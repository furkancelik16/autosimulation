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8288000" cy="10287000"/>
  <p:notesSz cx="6858000" cy="9144000"/>
  <p:embeddedFontLst>
    <p:embeddedFont>
      <p:font typeface="Libre Baskerville Italics" panose="020B0604020202020204" charset="0"/>
      <p:regular r:id="rId44"/>
    </p:embeddedFont>
    <p:embeddedFont>
      <p:font typeface="Poppins" panose="00000500000000000000" pitchFamily="2" charset="-94"/>
      <p:regular r:id="rId45"/>
    </p:embeddedFont>
    <p:embeddedFont>
      <p:font typeface="Poppins Bold" panose="020B0604020202020204" charset="-94"/>
      <p:regular r:id="rId46"/>
    </p:embeddedFont>
    <p:embeddedFont>
      <p:font typeface="Poppins Italics" panose="020B0604020202020204" charset="-94"/>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67" y="1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855684-2925-4C52-9BC4-CD3BD0C4F008}" type="datetimeFigureOut">
              <a:rPr lang="tr-TR" smtClean="0"/>
              <a:t>3.06.2026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B606A-2EAF-4A9D-A7F7-6C8B3A629CB4}" type="slidenum">
              <a:rPr lang="tr-TR" smtClean="0"/>
              <a:t>‹#›</a:t>
            </a:fld>
            <a:endParaRPr lang="tr-TR"/>
          </a:p>
        </p:txBody>
      </p:sp>
    </p:spTree>
    <p:extLst>
      <p:ext uri="{BB962C8B-B14F-4D97-AF65-F5344CB8AC3E}">
        <p14:creationId xmlns:p14="http://schemas.microsoft.com/office/powerpoint/2010/main" val="2489481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E6AB606A-2EAF-4A9D-A7F7-6C8B3A629CB4}" type="slidenum">
              <a:rPr lang="tr-TR" smtClean="0"/>
              <a:t>4</a:t>
            </a:fld>
            <a:endParaRPr lang="tr-TR"/>
          </a:p>
        </p:txBody>
      </p:sp>
    </p:spTree>
    <p:extLst>
      <p:ext uri="{BB962C8B-B14F-4D97-AF65-F5344CB8AC3E}">
        <p14:creationId xmlns:p14="http://schemas.microsoft.com/office/powerpoint/2010/main" val="1591100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mertaydin10/otonomModel"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hyperlink" Target="https://github.com/civelekemirhan/AutoSimulation" TargetMode="External"/><Relationship Id="rId5" Type="http://schemas.openxmlformats.org/officeDocument/2006/relationships/hyperlink" Target="https://github.com/civelekemirhan/PointSense" TargetMode="External"/><Relationship Id="rId4" Type="http://schemas.openxmlformats.org/officeDocument/2006/relationships/hyperlink" Target="https://github.com/mertaydin10/OtonomSurus"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5337976" y="-1306752"/>
            <a:ext cx="2613504" cy="261350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115638" y="7560484"/>
            <a:ext cx="1929699" cy="192969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rot="5400000">
            <a:off x="7195110" y="-755403"/>
            <a:ext cx="1512740" cy="151274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532597" y="6288154"/>
            <a:ext cx="1512740" cy="151274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4" name="Group 14"/>
          <p:cNvGrpSpPr/>
          <p:nvPr/>
        </p:nvGrpSpPr>
        <p:grpSpPr>
          <a:xfrm rot="-5400000">
            <a:off x="2121442" y="9569751"/>
            <a:ext cx="1434499" cy="143449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6" name="TextBox 1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7" name="Group 17"/>
          <p:cNvGrpSpPr/>
          <p:nvPr/>
        </p:nvGrpSpPr>
        <p:grpSpPr>
          <a:xfrm rot="5400000">
            <a:off x="423759" y="9137794"/>
            <a:ext cx="2298412" cy="22984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9" name="TextBox 1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20" name="Freeform 20"/>
          <p:cNvSpPr/>
          <p:nvPr/>
        </p:nvSpPr>
        <p:spPr>
          <a:xfrm flipV="1">
            <a:off x="6721236" y="9063866"/>
            <a:ext cx="4517944" cy="2230735"/>
          </a:xfrm>
          <a:custGeom>
            <a:avLst/>
            <a:gdLst/>
            <a:ahLst/>
            <a:cxnLst/>
            <a:rect l="l" t="t" r="r" b="b"/>
            <a:pathLst>
              <a:path w="4517944" h="2230735">
                <a:moveTo>
                  <a:pt x="0" y="2230735"/>
                </a:moveTo>
                <a:lnTo>
                  <a:pt x="4517944" y="2230735"/>
                </a:lnTo>
                <a:lnTo>
                  <a:pt x="4517944" y="0"/>
                </a:lnTo>
                <a:lnTo>
                  <a:pt x="0" y="0"/>
                </a:lnTo>
                <a:lnTo>
                  <a:pt x="0" y="2230735"/>
                </a:lnTo>
                <a:close/>
              </a:path>
            </a:pathLst>
          </a:custGeom>
          <a:blipFill>
            <a:blip r:embed="rId2">
              <a:alphaModFix amt="31999"/>
            </a:blip>
            <a:stretch>
              <a:fillRect/>
            </a:stretch>
          </a:blipFill>
        </p:spPr>
        <p:txBody>
          <a:bodyPr/>
          <a:lstStyle/>
          <a:p>
            <a:endParaRPr lang="tr-TR"/>
          </a:p>
        </p:txBody>
      </p:sp>
      <p:sp>
        <p:nvSpPr>
          <p:cNvPr id="21" name="Freeform 21"/>
          <p:cNvSpPr/>
          <p:nvPr/>
        </p:nvSpPr>
        <p:spPr>
          <a:xfrm>
            <a:off x="16714606" y="148793"/>
            <a:ext cx="1217089" cy="1217089"/>
          </a:xfrm>
          <a:custGeom>
            <a:avLst/>
            <a:gdLst/>
            <a:ahLst/>
            <a:cxnLst/>
            <a:rect l="l" t="t" r="r" b="b"/>
            <a:pathLst>
              <a:path w="1217089" h="1217089">
                <a:moveTo>
                  <a:pt x="0" y="0"/>
                </a:moveTo>
                <a:lnTo>
                  <a:pt x="1217089" y="0"/>
                </a:lnTo>
                <a:lnTo>
                  <a:pt x="1217089" y="1217089"/>
                </a:lnTo>
                <a:lnTo>
                  <a:pt x="0" y="1217089"/>
                </a:lnTo>
                <a:lnTo>
                  <a:pt x="0" y="0"/>
                </a:lnTo>
                <a:close/>
              </a:path>
            </a:pathLst>
          </a:custGeom>
          <a:blipFill>
            <a:blip r:embed="rId3"/>
            <a:stretch>
              <a:fillRect/>
            </a:stretch>
          </a:blipFill>
        </p:spPr>
        <p:txBody>
          <a:bodyPr/>
          <a:lstStyle/>
          <a:p>
            <a:endParaRPr lang="tr-TR"/>
          </a:p>
        </p:txBody>
      </p:sp>
      <p:sp>
        <p:nvSpPr>
          <p:cNvPr id="22" name="TextBox 22"/>
          <p:cNvSpPr txBox="1"/>
          <p:nvPr/>
        </p:nvSpPr>
        <p:spPr>
          <a:xfrm>
            <a:off x="223592" y="1815008"/>
            <a:ext cx="11015588" cy="2025649"/>
          </a:xfrm>
          <a:prstGeom prst="rect">
            <a:avLst/>
          </a:prstGeom>
        </p:spPr>
        <p:txBody>
          <a:bodyPr lIns="0" tIns="0" rIns="0" bIns="0" rtlCol="0" anchor="t">
            <a:spAutoFit/>
          </a:bodyPr>
          <a:lstStyle/>
          <a:p>
            <a:pPr marL="0" lvl="0" indent="0" algn="l">
              <a:lnSpc>
                <a:spcPts val="14349"/>
              </a:lnSpc>
            </a:pPr>
            <a:r>
              <a:rPr lang="en-US" sz="17499" i="1" spc="-699">
                <a:solidFill>
                  <a:srgbClr val="311581"/>
                </a:solidFill>
                <a:latin typeface="Libre Baskerville Italics"/>
                <a:ea typeface="Libre Baskerville Italics"/>
                <a:cs typeface="Libre Baskerville Italics"/>
                <a:sym typeface="Libre Baskerville Italics"/>
              </a:rPr>
              <a:t>Otonom </a:t>
            </a:r>
          </a:p>
        </p:txBody>
      </p:sp>
      <p:sp>
        <p:nvSpPr>
          <p:cNvPr id="23" name="TextBox 23"/>
          <p:cNvSpPr txBox="1"/>
          <p:nvPr/>
        </p:nvSpPr>
        <p:spPr>
          <a:xfrm>
            <a:off x="279916" y="3186099"/>
            <a:ext cx="12449059" cy="3305175"/>
          </a:xfrm>
          <a:prstGeom prst="rect">
            <a:avLst/>
          </a:prstGeom>
        </p:spPr>
        <p:txBody>
          <a:bodyPr lIns="0" tIns="0" rIns="0" bIns="0" rtlCol="0" anchor="t">
            <a:spAutoFit/>
          </a:bodyPr>
          <a:lstStyle/>
          <a:p>
            <a:pPr marL="0" lvl="0" indent="0" algn="l">
              <a:lnSpc>
                <a:spcPts val="12299"/>
              </a:lnSpc>
            </a:pPr>
            <a:r>
              <a:rPr lang="en-US" sz="15000" i="1" spc="-600">
                <a:solidFill>
                  <a:srgbClr val="2A44B1"/>
                </a:solidFill>
                <a:latin typeface="Libre Baskerville Italics"/>
                <a:ea typeface="Libre Baskerville Italics"/>
                <a:cs typeface="Libre Baskerville Italics"/>
                <a:sym typeface="Libre Baskerville Italics"/>
              </a:rPr>
              <a:t>Araç Simülatörü</a:t>
            </a:r>
          </a:p>
        </p:txBody>
      </p:sp>
      <p:sp>
        <p:nvSpPr>
          <p:cNvPr id="24" name="TextBox 24"/>
          <p:cNvSpPr txBox="1"/>
          <p:nvPr/>
        </p:nvSpPr>
        <p:spPr>
          <a:xfrm>
            <a:off x="688647" y="6553415"/>
            <a:ext cx="7498917" cy="491109"/>
          </a:xfrm>
          <a:prstGeom prst="rect">
            <a:avLst/>
          </a:prstGeom>
        </p:spPr>
        <p:txBody>
          <a:bodyPr lIns="0" tIns="0" rIns="0" bIns="0" rtlCol="0" anchor="t">
            <a:spAutoFit/>
          </a:bodyPr>
          <a:lstStyle/>
          <a:p>
            <a:pPr algn="l">
              <a:lnSpc>
                <a:spcPts val="3648"/>
              </a:lnSpc>
            </a:pPr>
            <a:r>
              <a:rPr lang="en-US" sz="3200" i="1" spc="-64">
                <a:solidFill>
                  <a:srgbClr val="000000"/>
                </a:solidFill>
                <a:latin typeface="Poppins Italics"/>
                <a:ea typeface="Poppins Italics"/>
                <a:cs typeface="Poppins Italics"/>
                <a:sym typeface="Poppins Italics"/>
              </a:rPr>
              <a:t>BLM4502 - YAPAY SİNİR AĞLARINA GİRİŞ</a:t>
            </a:r>
          </a:p>
        </p:txBody>
      </p:sp>
      <p:sp>
        <p:nvSpPr>
          <p:cNvPr id="25" name="TextBox 25"/>
          <p:cNvSpPr txBox="1"/>
          <p:nvPr/>
        </p:nvSpPr>
        <p:spPr>
          <a:xfrm>
            <a:off x="12381594" y="5988265"/>
            <a:ext cx="3360742" cy="574675"/>
          </a:xfrm>
          <a:prstGeom prst="rect">
            <a:avLst/>
          </a:prstGeom>
        </p:spPr>
        <p:txBody>
          <a:bodyPr lIns="0" tIns="0" rIns="0" bIns="0" rtlCol="0" anchor="t">
            <a:spAutoFit/>
          </a:bodyPr>
          <a:lstStyle/>
          <a:p>
            <a:pPr marL="0" lvl="0" indent="0" algn="l">
              <a:lnSpc>
                <a:spcPts val="4100"/>
              </a:lnSpc>
              <a:spcBef>
                <a:spcPct val="0"/>
              </a:spcBef>
            </a:pPr>
            <a:r>
              <a:rPr lang="en-US" sz="5000" i="1" u="none" strike="noStrike" spc="-200">
                <a:solidFill>
                  <a:srgbClr val="2A44B1"/>
                </a:solidFill>
                <a:latin typeface="Libre Baskerville Italics"/>
                <a:ea typeface="Libre Baskerville Italics"/>
                <a:cs typeface="Libre Baskerville Italics"/>
                <a:sym typeface="Libre Baskerville Italics"/>
              </a:rPr>
              <a:t>Proje Ekibi</a:t>
            </a:r>
          </a:p>
        </p:txBody>
      </p:sp>
      <p:sp>
        <p:nvSpPr>
          <p:cNvPr id="26" name="TextBox 26"/>
          <p:cNvSpPr txBox="1"/>
          <p:nvPr/>
        </p:nvSpPr>
        <p:spPr>
          <a:xfrm>
            <a:off x="11894794" y="6617479"/>
            <a:ext cx="6185694" cy="2520315"/>
          </a:xfrm>
          <a:prstGeom prst="rect">
            <a:avLst/>
          </a:prstGeom>
        </p:spPr>
        <p:txBody>
          <a:bodyPr lIns="0" tIns="0" rIns="0" bIns="0" rtlCol="0" anchor="t">
            <a:spAutoFit/>
          </a:bodyPr>
          <a:lstStyle/>
          <a:p>
            <a:pPr marL="0" lvl="0" indent="0" algn="l">
              <a:lnSpc>
                <a:spcPts val="3359"/>
              </a:lnSpc>
              <a:spcBef>
                <a:spcPct val="0"/>
              </a:spcBef>
            </a:pPr>
            <a:r>
              <a:rPr lang="en-US" sz="2399" u="none" strike="noStrike">
                <a:solidFill>
                  <a:srgbClr val="000000"/>
                </a:solidFill>
                <a:latin typeface="Poppins"/>
                <a:ea typeface="Poppins"/>
                <a:cs typeface="Poppins"/>
                <a:sym typeface="Poppins"/>
              </a:rPr>
              <a:t>1221602020 - Emirhan Civelek</a:t>
            </a:r>
          </a:p>
          <a:p>
            <a:pPr marL="0" lvl="0" indent="0" algn="l">
              <a:lnSpc>
                <a:spcPts val="3359"/>
              </a:lnSpc>
              <a:spcBef>
                <a:spcPct val="0"/>
              </a:spcBef>
            </a:pPr>
            <a:r>
              <a:rPr lang="en-US" sz="2399" u="none" strike="noStrike">
                <a:solidFill>
                  <a:srgbClr val="000000"/>
                </a:solidFill>
                <a:latin typeface="Poppins"/>
                <a:ea typeface="Poppins"/>
                <a:cs typeface="Poppins"/>
                <a:sym typeface="Poppins"/>
              </a:rPr>
              <a:t>1221602031  - Mert Can Aydın</a:t>
            </a:r>
          </a:p>
          <a:p>
            <a:pPr marL="0" lvl="0" indent="0" algn="l">
              <a:lnSpc>
                <a:spcPts val="3359"/>
              </a:lnSpc>
              <a:spcBef>
                <a:spcPct val="0"/>
              </a:spcBef>
            </a:pPr>
            <a:r>
              <a:rPr lang="en-US" sz="2399" u="none" strike="noStrike">
                <a:solidFill>
                  <a:srgbClr val="000000"/>
                </a:solidFill>
                <a:latin typeface="Poppins"/>
                <a:ea typeface="Poppins"/>
                <a:cs typeface="Poppins"/>
                <a:sym typeface="Poppins"/>
              </a:rPr>
              <a:t>1221602069 - Emre Çalışkan</a:t>
            </a:r>
          </a:p>
          <a:p>
            <a:pPr marL="0" lvl="0" indent="0" algn="l">
              <a:lnSpc>
                <a:spcPts val="3359"/>
              </a:lnSpc>
              <a:spcBef>
                <a:spcPct val="0"/>
              </a:spcBef>
            </a:pPr>
            <a:r>
              <a:rPr lang="en-US" sz="2399" u="none" strike="noStrike">
                <a:solidFill>
                  <a:srgbClr val="000000"/>
                </a:solidFill>
                <a:latin typeface="Poppins"/>
                <a:ea typeface="Poppins"/>
                <a:cs typeface="Poppins"/>
                <a:sym typeface="Poppins"/>
              </a:rPr>
              <a:t>1221602066 - Furkan Çelik</a:t>
            </a:r>
          </a:p>
          <a:p>
            <a:pPr marL="0" lvl="0" indent="0" algn="l">
              <a:lnSpc>
                <a:spcPts val="3359"/>
              </a:lnSpc>
              <a:spcBef>
                <a:spcPct val="0"/>
              </a:spcBef>
            </a:pPr>
            <a:r>
              <a:rPr lang="en-US" sz="2399" u="none" strike="noStrike">
                <a:solidFill>
                  <a:srgbClr val="000000"/>
                </a:solidFill>
                <a:latin typeface="Poppins"/>
                <a:ea typeface="Poppins"/>
                <a:cs typeface="Poppins"/>
                <a:sym typeface="Poppins"/>
              </a:rPr>
              <a:t>1211602018   - Umut Diler</a:t>
            </a:r>
          </a:p>
          <a:p>
            <a:pPr marL="0" lvl="0" indent="0" algn="l">
              <a:lnSpc>
                <a:spcPts val="3359"/>
              </a:lnSpc>
              <a:spcBef>
                <a:spcPct val="0"/>
              </a:spcBef>
            </a:pPr>
            <a:endParaRPr lang="en-US" sz="2399" u="none" strike="noStrike">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895579" y="1000468"/>
            <a:ext cx="4888696" cy="2413794"/>
          </a:xfrm>
          <a:custGeom>
            <a:avLst/>
            <a:gdLst/>
            <a:ahLst/>
            <a:cxnLst/>
            <a:rect l="l" t="t" r="r" b="b"/>
            <a:pathLst>
              <a:path w="4888696" h="2413794">
                <a:moveTo>
                  <a:pt x="4888696" y="0"/>
                </a:moveTo>
                <a:lnTo>
                  <a:pt x="0" y="0"/>
                </a:lnTo>
                <a:lnTo>
                  <a:pt x="0" y="2413794"/>
                </a:lnTo>
                <a:lnTo>
                  <a:pt x="4888696" y="2413794"/>
                </a:lnTo>
                <a:lnTo>
                  <a:pt x="4888696"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5400000" flipV="1">
            <a:off x="-1496275" y="6872738"/>
            <a:ext cx="4888696" cy="2413794"/>
          </a:xfrm>
          <a:custGeom>
            <a:avLst/>
            <a:gdLst/>
            <a:ahLst/>
            <a:cxnLst/>
            <a:rect l="l" t="t" r="r" b="b"/>
            <a:pathLst>
              <a:path w="4888696" h="2413794">
                <a:moveTo>
                  <a:pt x="0" y="2413794"/>
                </a:moveTo>
                <a:lnTo>
                  <a:pt x="4888696" y="2413794"/>
                </a:lnTo>
                <a:lnTo>
                  <a:pt x="4888696" y="0"/>
                </a:lnTo>
                <a:lnTo>
                  <a:pt x="0" y="0"/>
                </a:lnTo>
                <a:lnTo>
                  <a:pt x="0" y="2413794"/>
                </a:lnTo>
                <a:close/>
              </a:path>
            </a:pathLst>
          </a:custGeom>
          <a:blipFill>
            <a:blip r:embed="rId2">
              <a:alphaModFix amt="31999"/>
            </a:blip>
            <a:stretch>
              <a:fillRect/>
            </a:stretch>
          </a:blipFill>
        </p:spPr>
        <p:txBody>
          <a:bodyPr/>
          <a:lstStyle/>
          <a:p>
            <a:endParaRPr lang="tr-TR"/>
          </a:p>
        </p:txBody>
      </p:sp>
      <p:grpSp>
        <p:nvGrpSpPr>
          <p:cNvPr id="4" name="Group 4"/>
          <p:cNvGrpSpPr/>
          <p:nvPr/>
        </p:nvGrpSpPr>
        <p:grpSpPr>
          <a:xfrm>
            <a:off x="17454654" y="7811400"/>
            <a:ext cx="1666691" cy="1666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6" name="TextBox 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7" name="Group 7"/>
          <p:cNvGrpSpPr/>
          <p:nvPr/>
        </p:nvGrpSpPr>
        <p:grpSpPr>
          <a:xfrm rot="-10800000">
            <a:off x="-860637" y="812475"/>
            <a:ext cx="1666691" cy="166669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9" name="TextBox 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0" name="Group 10"/>
          <p:cNvGrpSpPr/>
          <p:nvPr/>
        </p:nvGrpSpPr>
        <p:grpSpPr>
          <a:xfrm rot="-10800000">
            <a:off x="17635555" y="6981484"/>
            <a:ext cx="1306561" cy="13065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2" name="TextBox 12"/>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3" name="Group 13"/>
          <p:cNvGrpSpPr/>
          <p:nvPr/>
        </p:nvGrpSpPr>
        <p:grpSpPr>
          <a:xfrm>
            <a:off x="-681408" y="2002521"/>
            <a:ext cx="1306561" cy="130656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5" name="TextBox 1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6" name="TextBox 16"/>
          <p:cNvSpPr txBox="1"/>
          <p:nvPr/>
        </p:nvSpPr>
        <p:spPr>
          <a:xfrm>
            <a:off x="2634279" y="780147"/>
            <a:ext cx="11670527" cy="1222374"/>
          </a:xfrm>
          <a:prstGeom prst="rect">
            <a:avLst/>
          </a:prstGeom>
        </p:spPr>
        <p:txBody>
          <a:bodyPr lIns="0" tIns="0" rIns="0" bIns="0" rtlCol="0" anchor="t">
            <a:spAutoFit/>
          </a:bodyPr>
          <a:lstStyle/>
          <a:p>
            <a:pPr marL="0" lvl="0" indent="0" algn="l">
              <a:lnSpc>
                <a:spcPts val="8899"/>
              </a:lnSpc>
              <a:spcBef>
                <a:spcPct val="0"/>
              </a:spcBef>
            </a:pPr>
            <a:r>
              <a:rPr lang="en-US" sz="9999" i="1" spc="-299">
                <a:solidFill>
                  <a:srgbClr val="311581"/>
                </a:solidFill>
                <a:latin typeface="Libre Baskerville Italics"/>
                <a:ea typeface="Libre Baskerville Italics"/>
                <a:cs typeface="Libre Baskerville Italics"/>
                <a:sym typeface="Libre Baskerville Italics"/>
              </a:rPr>
              <a:t>İçindekiler</a:t>
            </a:r>
          </a:p>
        </p:txBody>
      </p:sp>
      <p:sp>
        <p:nvSpPr>
          <p:cNvPr id="17" name="TextBox 17"/>
          <p:cNvSpPr txBox="1"/>
          <p:nvPr/>
        </p:nvSpPr>
        <p:spPr>
          <a:xfrm>
            <a:off x="2154970" y="2140690"/>
            <a:ext cx="15785230" cy="7451725"/>
          </a:xfrm>
          <a:prstGeom prst="rect">
            <a:avLst/>
          </a:prstGeom>
        </p:spPr>
        <p:txBody>
          <a:bodyPr lIns="0" tIns="0" rIns="0" bIns="0" rtlCol="0" anchor="t">
            <a:spAutoFit/>
          </a:bodyPr>
          <a:lstStyle/>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Projenin Konusu ve Amacı</a:t>
            </a:r>
          </a:p>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Projeyi Neden Seçtik?</a:t>
            </a:r>
          </a:p>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Takviyeli Öğrenme Nedir?</a:t>
            </a:r>
          </a:p>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Temel Takviyeli Öğrenme Kavramları</a:t>
            </a:r>
          </a:p>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Takviyeli Öğrenmeyi Neden Seçtik?</a:t>
            </a:r>
          </a:p>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Projenin Katmanları ve Çalışma Şekli</a:t>
            </a:r>
          </a:p>
          <a:p>
            <a:pPr marL="1079499" lvl="2" indent="-359833"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Model Eğitiminde Kullandığımız Algoritmalar</a:t>
            </a:r>
          </a:p>
          <a:p>
            <a:pPr marL="1619248" lvl="3" indent="-404812"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DQN</a:t>
            </a:r>
          </a:p>
          <a:p>
            <a:pPr marL="1619248" lvl="3" indent="-404812"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PPO</a:t>
            </a:r>
          </a:p>
          <a:p>
            <a:pPr marL="1619248" lvl="3" indent="-404812"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A2C</a:t>
            </a:r>
          </a:p>
          <a:p>
            <a:pPr marL="1619248" lvl="3" indent="-404812"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SAC</a:t>
            </a:r>
          </a:p>
          <a:p>
            <a:pPr marL="1079499" lvl="2" indent="-359833"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Frontend</a:t>
            </a:r>
          </a:p>
          <a:p>
            <a:pPr marL="1619248" lvl="3" indent="-404812"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Kullanıcı Arayüz Ekran Görüntüleri</a:t>
            </a:r>
          </a:p>
          <a:p>
            <a:pPr marL="1079499" lvl="2" indent="-359833"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Backend</a:t>
            </a:r>
          </a:p>
          <a:p>
            <a:pPr marL="1619248" lvl="3" indent="-404812"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Websocket Nedir ve Önemi</a:t>
            </a:r>
          </a:p>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Eğitilen Modellerin Anlatımı ve Farkları</a:t>
            </a:r>
          </a:p>
          <a:p>
            <a:pPr marL="539749" lvl="1" indent="-269875" algn="just">
              <a:lnSpc>
                <a:spcPts val="3499"/>
              </a:lnSpc>
              <a:spcBef>
                <a:spcPct val="0"/>
              </a:spcBef>
              <a:buFont typeface="Arial"/>
              <a:buChar char="•"/>
            </a:pPr>
            <a:r>
              <a:rPr lang="en-US" sz="2499" u="none" strike="noStrike">
                <a:solidFill>
                  <a:srgbClr val="000000"/>
                </a:solidFill>
                <a:latin typeface="Poppins"/>
                <a:ea typeface="Poppins"/>
                <a:cs typeface="Poppins"/>
                <a:sym typeface="Poppins"/>
              </a:rPr>
              <a:t>Genel Model Karşılaştırması</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880" y="1554112"/>
            <a:ext cx="14601850" cy="122237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dirty="0" err="1">
                <a:solidFill>
                  <a:srgbClr val="311581"/>
                </a:solidFill>
                <a:latin typeface="Libre Baskerville Italics"/>
                <a:ea typeface="Libre Baskerville Italics"/>
                <a:cs typeface="Libre Baskerville Italics"/>
                <a:sym typeface="Libre Baskerville Italics"/>
              </a:rPr>
              <a:t>Projenin</a:t>
            </a:r>
            <a:r>
              <a:rPr lang="en-US" sz="9999" i="1" u="none" strike="noStrike" spc="-299" dirty="0">
                <a:solidFill>
                  <a:srgbClr val="311581"/>
                </a:solidFill>
                <a:latin typeface="Libre Baskerville Italics"/>
                <a:ea typeface="Libre Baskerville Italics"/>
                <a:cs typeface="Libre Baskerville Italics"/>
                <a:sym typeface="Libre Baskerville Italics"/>
              </a:rPr>
              <a:t> </a:t>
            </a:r>
            <a:r>
              <a:rPr lang="en-US" sz="9999" i="1" u="none" strike="noStrike" spc="-299" dirty="0" err="1">
                <a:solidFill>
                  <a:srgbClr val="311581"/>
                </a:solidFill>
                <a:latin typeface="Libre Baskerville Italics"/>
                <a:ea typeface="Libre Baskerville Italics"/>
                <a:cs typeface="Libre Baskerville Italics"/>
                <a:sym typeface="Libre Baskerville Italics"/>
              </a:rPr>
              <a:t>Konusu</a:t>
            </a:r>
            <a:r>
              <a:rPr lang="en-US" sz="9999" i="1" u="none" strike="noStrike" spc="-299" dirty="0">
                <a:solidFill>
                  <a:srgbClr val="311581"/>
                </a:solidFill>
                <a:latin typeface="Libre Baskerville Italics"/>
                <a:ea typeface="Libre Baskerville Italics"/>
                <a:cs typeface="Libre Baskerville Italics"/>
                <a:sym typeface="Libre Baskerville Italics"/>
              </a:rPr>
              <a:t> </a:t>
            </a:r>
            <a:r>
              <a:rPr lang="en-US" sz="9999" i="1" u="none" strike="noStrike" spc="-299" dirty="0" err="1">
                <a:solidFill>
                  <a:srgbClr val="311581"/>
                </a:solidFill>
                <a:latin typeface="Libre Baskerville Italics"/>
                <a:ea typeface="Libre Baskerville Italics"/>
                <a:cs typeface="Libre Baskerville Italics"/>
                <a:sym typeface="Libre Baskerville Italics"/>
              </a:rPr>
              <a:t>ve</a:t>
            </a:r>
            <a:r>
              <a:rPr lang="en-US" sz="9999" i="1" u="none" strike="noStrike" spc="-299" dirty="0">
                <a:solidFill>
                  <a:srgbClr val="311581"/>
                </a:solidFill>
                <a:latin typeface="Libre Baskerville Italics"/>
                <a:ea typeface="Libre Baskerville Italics"/>
                <a:cs typeface="Libre Baskerville Italics"/>
                <a:sym typeface="Libre Baskerville Italics"/>
              </a:rPr>
              <a:t> </a:t>
            </a:r>
            <a:r>
              <a:rPr lang="en-US" sz="9999" i="1" u="none" strike="noStrike" spc="-299" dirty="0" err="1">
                <a:solidFill>
                  <a:srgbClr val="311581"/>
                </a:solidFill>
                <a:latin typeface="Libre Baskerville Italics"/>
                <a:ea typeface="Libre Baskerville Italics"/>
                <a:cs typeface="Libre Baskerville Italics"/>
                <a:sym typeface="Libre Baskerville Italics"/>
              </a:rPr>
              <a:t>Amacı</a:t>
            </a:r>
            <a:endParaRPr lang="en-US" sz="9999" i="1" u="none" strike="noStrike" spc="-299" dirty="0">
              <a:solidFill>
                <a:srgbClr val="311581"/>
              </a:solidFill>
              <a:latin typeface="Libre Baskerville Italics"/>
              <a:ea typeface="Libre Baskerville Italics"/>
              <a:cs typeface="Libre Baskerville Italics"/>
              <a:sym typeface="Libre Baskerville Italics"/>
            </a:endParaRPr>
          </a:p>
        </p:txBody>
      </p:sp>
      <p:grpSp>
        <p:nvGrpSpPr>
          <p:cNvPr id="3" name="Group 3"/>
          <p:cNvGrpSpPr/>
          <p:nvPr/>
        </p:nvGrpSpPr>
        <p:grpSpPr>
          <a:xfrm rot="5400000">
            <a:off x="4688321" y="9296411"/>
            <a:ext cx="1981177" cy="198117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5400000">
            <a:off x="1873451" y="-990589"/>
            <a:ext cx="1981177" cy="198117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5400000">
            <a:off x="6102916" y="9511446"/>
            <a:ext cx="1553095" cy="155309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rot="5400000">
            <a:off x="882863" y="-775554"/>
            <a:ext cx="1553095" cy="155309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Freeform 15"/>
          <p:cNvSpPr/>
          <p:nvPr/>
        </p:nvSpPr>
        <p:spPr>
          <a:xfrm rot="-123480">
            <a:off x="14569221" y="6309669"/>
            <a:ext cx="3059517" cy="3005975"/>
          </a:xfrm>
          <a:custGeom>
            <a:avLst/>
            <a:gdLst/>
            <a:ahLst/>
            <a:cxnLst/>
            <a:rect l="l" t="t" r="r" b="b"/>
            <a:pathLst>
              <a:path w="3059517" h="3005975">
                <a:moveTo>
                  <a:pt x="0" y="0"/>
                </a:moveTo>
                <a:lnTo>
                  <a:pt x="3059516" y="0"/>
                </a:lnTo>
                <a:lnTo>
                  <a:pt x="3059516" y="3005975"/>
                </a:lnTo>
                <a:lnTo>
                  <a:pt x="0" y="3005975"/>
                </a:lnTo>
                <a:lnTo>
                  <a:pt x="0" y="0"/>
                </a:lnTo>
                <a:close/>
              </a:path>
            </a:pathLst>
          </a:custGeom>
          <a:blipFill>
            <a:blip r:embed="rId2"/>
            <a:stretch>
              <a:fillRect/>
            </a:stretch>
          </a:blipFill>
        </p:spPr>
        <p:txBody>
          <a:bodyPr/>
          <a:lstStyle/>
          <a:p>
            <a:endParaRPr lang="tr-TR"/>
          </a:p>
        </p:txBody>
      </p:sp>
      <p:sp>
        <p:nvSpPr>
          <p:cNvPr id="16" name="TextBox 16"/>
          <p:cNvSpPr txBox="1"/>
          <p:nvPr/>
        </p:nvSpPr>
        <p:spPr>
          <a:xfrm>
            <a:off x="877001" y="4062378"/>
            <a:ext cx="14239646" cy="843915"/>
          </a:xfrm>
          <a:prstGeom prst="rect">
            <a:avLst/>
          </a:prstGeom>
        </p:spPr>
        <p:txBody>
          <a:bodyPr lIns="0" tIns="0" rIns="0" bIns="0" rtlCol="0" anchor="t">
            <a:spAutoFit/>
          </a:bodyPr>
          <a:lstStyle/>
          <a:p>
            <a:pPr algn="l">
              <a:lnSpc>
                <a:spcPts val="3359"/>
              </a:lnSpc>
              <a:spcBef>
                <a:spcPct val="0"/>
              </a:spcBef>
            </a:pPr>
            <a:r>
              <a:rPr lang="en-US" sz="2399" dirty="0">
                <a:solidFill>
                  <a:srgbClr val="000000"/>
                </a:solidFill>
                <a:latin typeface="Poppins"/>
                <a:ea typeface="Poppins"/>
                <a:cs typeface="Poppins"/>
                <a:sym typeface="Poppins"/>
              </a:rPr>
              <a:t>Bu </a:t>
            </a:r>
            <a:r>
              <a:rPr lang="en-US" sz="2399" dirty="0" err="1">
                <a:solidFill>
                  <a:srgbClr val="000000"/>
                </a:solidFill>
                <a:latin typeface="Poppins"/>
                <a:ea typeface="Poppins"/>
                <a:cs typeface="Poppins"/>
                <a:sym typeface="Poppins"/>
              </a:rPr>
              <a:t>proje</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statik</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ve</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hareketli</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engeller</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barındıran</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dinamik</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ortamlarda</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otonom</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navigasyon</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probleminin</a:t>
            </a:r>
            <a:r>
              <a:rPr lang="en-US" sz="2399" dirty="0">
                <a:solidFill>
                  <a:srgbClr val="000000"/>
                </a:solidFill>
                <a:latin typeface="Poppins"/>
                <a:ea typeface="Poppins"/>
                <a:cs typeface="Poppins"/>
                <a:sym typeface="Poppins"/>
              </a:rPr>
              <a:t> Derin </a:t>
            </a:r>
            <a:r>
              <a:rPr lang="en-US" sz="2399" dirty="0" err="1">
                <a:solidFill>
                  <a:srgbClr val="000000"/>
                </a:solidFill>
                <a:latin typeface="Poppins"/>
                <a:ea typeface="Poppins"/>
                <a:cs typeface="Poppins"/>
                <a:sym typeface="Poppins"/>
              </a:rPr>
              <a:t>Takviyeli</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Öğrenme</a:t>
            </a:r>
            <a:r>
              <a:rPr lang="en-US" sz="2399" dirty="0">
                <a:solidFill>
                  <a:srgbClr val="000000"/>
                </a:solidFill>
                <a:latin typeface="Poppins"/>
                <a:ea typeface="Poppins"/>
                <a:cs typeface="Poppins"/>
                <a:sym typeface="Poppins"/>
              </a:rPr>
              <a:t> (RL) </a:t>
            </a:r>
            <a:r>
              <a:rPr lang="en-US" sz="2399" dirty="0" err="1">
                <a:solidFill>
                  <a:srgbClr val="000000"/>
                </a:solidFill>
                <a:latin typeface="Poppins"/>
                <a:ea typeface="Poppins"/>
                <a:cs typeface="Poppins"/>
                <a:sym typeface="Poppins"/>
              </a:rPr>
              <a:t>yöntemleriyle</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çözülmesini</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konu</a:t>
            </a:r>
            <a:r>
              <a:rPr lang="en-US" sz="2399" dirty="0">
                <a:solidFill>
                  <a:srgbClr val="000000"/>
                </a:solidFill>
                <a:latin typeface="Poppins"/>
                <a:ea typeface="Poppins"/>
                <a:cs typeface="Poppins"/>
                <a:sym typeface="Poppins"/>
              </a:rPr>
              <a:t> </a:t>
            </a:r>
            <a:r>
              <a:rPr lang="en-US" sz="2399" dirty="0" err="1">
                <a:solidFill>
                  <a:srgbClr val="000000"/>
                </a:solidFill>
                <a:latin typeface="Poppins"/>
                <a:ea typeface="Poppins"/>
                <a:cs typeface="Poppins"/>
                <a:sym typeface="Poppins"/>
              </a:rPr>
              <a:t>alır</a:t>
            </a:r>
            <a:r>
              <a:rPr lang="en-US" sz="2399" dirty="0">
                <a:solidFill>
                  <a:srgbClr val="000000"/>
                </a:solidFill>
                <a:latin typeface="Poppins"/>
                <a:ea typeface="Poppins"/>
                <a:cs typeface="Poppins"/>
                <a:sym typeface="Poppins"/>
              </a:rPr>
              <a:t>.</a:t>
            </a:r>
          </a:p>
        </p:txBody>
      </p:sp>
      <p:sp>
        <p:nvSpPr>
          <p:cNvPr id="17" name="TextBox 17"/>
          <p:cNvSpPr txBox="1"/>
          <p:nvPr/>
        </p:nvSpPr>
        <p:spPr>
          <a:xfrm>
            <a:off x="882863" y="5233745"/>
            <a:ext cx="13499255" cy="1682115"/>
          </a:xfrm>
          <a:prstGeom prst="rect">
            <a:avLst/>
          </a:prstGeom>
        </p:spPr>
        <p:txBody>
          <a:bodyPr lIns="0" tIns="0" rIns="0" bIns="0" rtlCol="0" anchor="t">
            <a:spAutoFit/>
          </a:bodyPr>
          <a:lstStyle/>
          <a:p>
            <a:pPr marL="0" lvl="0" indent="0" algn="l">
              <a:lnSpc>
                <a:spcPts val="3359"/>
              </a:lnSpc>
              <a:spcBef>
                <a:spcPct val="0"/>
              </a:spcBef>
            </a:pPr>
            <a:r>
              <a:rPr lang="en-US" sz="2399" u="none" strike="noStrike" dirty="0">
                <a:solidFill>
                  <a:srgbClr val="000000"/>
                </a:solidFill>
                <a:latin typeface="Poppins"/>
                <a:ea typeface="Poppins"/>
                <a:cs typeface="Poppins"/>
                <a:sym typeface="Poppins"/>
              </a:rPr>
              <a:t>Temel </a:t>
            </a:r>
            <a:r>
              <a:rPr lang="en-US" sz="2399" u="none" strike="noStrike" dirty="0" err="1">
                <a:solidFill>
                  <a:srgbClr val="000000"/>
                </a:solidFill>
                <a:latin typeface="Poppins"/>
                <a:ea typeface="Poppins"/>
                <a:cs typeface="Poppins"/>
                <a:sym typeface="Poppins"/>
              </a:rPr>
              <a:t>amaç</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klasik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algoritmalar</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yerine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deneme-yanılma</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yoluyla</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öğrenen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bir</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yapı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kurmak</a:t>
            </a:r>
            <a:r>
              <a:rPr lang="en-US" sz="2399" u="none" strike="noStrike" dirty="0">
                <a:solidFill>
                  <a:srgbClr val="000000"/>
                </a:solidFill>
                <a:latin typeface="Poppins"/>
                <a:ea typeface="Poppins"/>
                <a:cs typeface="Poppins"/>
                <a:sym typeface="Poppins"/>
              </a:rPr>
              <a:t>, DQN, A2C </a:t>
            </a:r>
            <a:r>
              <a:rPr lang="en-US" sz="2399" u="none" strike="noStrike" dirty="0" err="1">
                <a:solidFill>
                  <a:srgbClr val="000000"/>
                </a:solidFill>
                <a:latin typeface="Poppins"/>
                <a:ea typeface="Poppins"/>
                <a:cs typeface="Poppins"/>
                <a:sym typeface="Poppins"/>
              </a:rPr>
              <a:t>ve</a:t>
            </a:r>
            <a:r>
              <a:rPr lang="en-US" sz="2399" u="none" strike="noStrike" dirty="0">
                <a:solidFill>
                  <a:srgbClr val="000000"/>
                </a:solidFill>
                <a:latin typeface="Poppins"/>
                <a:ea typeface="Poppins"/>
                <a:cs typeface="Poppins"/>
                <a:sym typeface="Poppins"/>
              </a:rPr>
              <a:t> PPO </a:t>
            </a:r>
            <a:r>
              <a:rPr lang="en-US" sz="2399" u="none" strike="noStrike" dirty="0" err="1">
                <a:solidFill>
                  <a:srgbClr val="000000"/>
                </a:solidFill>
                <a:latin typeface="Poppins"/>
                <a:ea typeface="Poppins"/>
                <a:cs typeface="Poppins"/>
                <a:sym typeface="Poppins"/>
              </a:rPr>
              <a:t>gibi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farklı</a:t>
            </a:r>
            <a:r>
              <a:rPr lang="en-US" sz="2399" u="none" strike="noStrike" dirty="0">
                <a:solidFill>
                  <a:srgbClr val="000000"/>
                </a:solidFill>
                <a:latin typeface="Poppins"/>
                <a:ea typeface="Poppins"/>
                <a:cs typeface="Poppins"/>
                <a:sym typeface="Poppins"/>
              </a:rPr>
              <a:t> RL </a:t>
            </a:r>
            <a:r>
              <a:rPr lang="en-US" sz="2399" u="none" strike="noStrike" dirty="0" err="1">
                <a:solidFill>
                  <a:srgbClr val="000000"/>
                </a:solidFill>
                <a:latin typeface="Poppins"/>
                <a:ea typeface="Poppins"/>
                <a:cs typeface="Poppins"/>
                <a:sym typeface="Poppins"/>
              </a:rPr>
              <a:t>mimarilerinin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performanslarını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somut</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metriklerle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analiz</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etmek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ve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bu</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süreci</a:t>
            </a:r>
            <a:r>
              <a:rPr lang="en-US" sz="2399" u="none" strike="noStrike" dirty="0">
                <a:solidFill>
                  <a:srgbClr val="000000"/>
                </a:solidFill>
                <a:latin typeface="Poppins"/>
                <a:ea typeface="Poppins"/>
                <a:cs typeface="Poppins"/>
                <a:sym typeface="Poppins"/>
              </a:rPr>
              <a:t> modern </a:t>
            </a:r>
            <a:r>
              <a:rPr lang="en-US" sz="2399" u="none" strike="noStrike" dirty="0" err="1">
                <a:solidFill>
                  <a:srgbClr val="000000"/>
                </a:solidFill>
                <a:latin typeface="Poppins"/>
                <a:ea typeface="Poppins"/>
                <a:cs typeface="Poppins"/>
                <a:sym typeface="Poppins"/>
              </a:rPr>
              <a:t>bir</a:t>
            </a:r>
            <a:r>
              <a:rPr lang="en-US" sz="2399" u="none" strike="noStrike" dirty="0">
                <a:solidFill>
                  <a:srgbClr val="000000"/>
                </a:solidFill>
                <a:latin typeface="Poppins"/>
                <a:ea typeface="Poppins"/>
                <a:cs typeface="Poppins"/>
                <a:sym typeface="Poppins"/>
              </a:rPr>
              <a:t> 2D/3D web </a:t>
            </a:r>
            <a:r>
              <a:rPr lang="en-US" sz="2399" u="none" strike="noStrike" dirty="0" err="1">
                <a:solidFill>
                  <a:srgbClr val="000000"/>
                </a:solidFill>
                <a:latin typeface="Poppins"/>
                <a:ea typeface="Poppins"/>
                <a:cs typeface="Poppins"/>
                <a:sym typeface="Poppins"/>
              </a:rPr>
              <a:t>arayüzünde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gerçek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zamanlı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olarak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görselleştirmektir</a:t>
            </a:r>
            <a:r>
              <a:rPr lang="en-US" sz="2399" u="none" strike="noStrike" dirty="0">
                <a:solidFill>
                  <a:srgbClr val="000000"/>
                </a:solidFill>
                <a:latin typeface="Poppins"/>
                <a:ea typeface="Poppins"/>
                <a:cs typeface="Poppins"/>
                <a:sym typeface="Poppi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222570" y="5932573"/>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065430" y="904919"/>
            <a:ext cx="2445141" cy="2445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a:off x="-959630" y="7678446"/>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328370" y="2650792"/>
            <a:ext cx="1916807" cy="191680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4" name="Freeform 14"/>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3">
              <a:alphaModFix amt="31999"/>
            </a:blip>
            <a:stretch>
              <a:fillRect/>
            </a:stretch>
          </a:blipFill>
        </p:spPr>
        <p:txBody>
          <a:bodyPr/>
          <a:lstStyle/>
          <a:p>
            <a:endParaRPr lang="tr-TR"/>
          </a:p>
        </p:txBody>
      </p:sp>
      <p:sp>
        <p:nvSpPr>
          <p:cNvPr id="15" name="Freeform 15"/>
          <p:cNvSpPr/>
          <p:nvPr/>
        </p:nvSpPr>
        <p:spPr>
          <a:xfrm flipH="1">
            <a:off x="1405107" y="-788898"/>
            <a:ext cx="4517944" cy="2230735"/>
          </a:xfrm>
          <a:custGeom>
            <a:avLst/>
            <a:gdLst/>
            <a:ahLst/>
            <a:cxnLst/>
            <a:rect l="l" t="t" r="r" b="b"/>
            <a:pathLst>
              <a:path w="4517944" h="2230735">
                <a:moveTo>
                  <a:pt x="4517945" y="0"/>
                </a:moveTo>
                <a:lnTo>
                  <a:pt x="0" y="0"/>
                </a:lnTo>
                <a:lnTo>
                  <a:pt x="0" y="2230735"/>
                </a:lnTo>
                <a:lnTo>
                  <a:pt x="4517945" y="2230735"/>
                </a:lnTo>
                <a:lnTo>
                  <a:pt x="4517945" y="0"/>
                </a:lnTo>
                <a:close/>
              </a:path>
            </a:pathLst>
          </a:custGeom>
          <a:blipFill>
            <a:blip r:embed="rId3">
              <a:alphaModFix amt="31999"/>
            </a:blip>
            <a:stretch>
              <a:fillRect/>
            </a:stretch>
          </a:blipFill>
        </p:spPr>
        <p:txBody>
          <a:bodyPr/>
          <a:lstStyle/>
          <a:p>
            <a:endParaRPr lang="tr-TR"/>
          </a:p>
        </p:txBody>
      </p:sp>
      <p:sp>
        <p:nvSpPr>
          <p:cNvPr id="16" name="TextBox 16"/>
          <p:cNvSpPr txBox="1"/>
          <p:nvPr/>
        </p:nvSpPr>
        <p:spPr>
          <a:xfrm>
            <a:off x="1405107" y="1101965"/>
            <a:ext cx="14292256"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Bu Proje Konusunu Neden Seçtik?</a:t>
            </a:r>
          </a:p>
        </p:txBody>
      </p:sp>
      <p:sp>
        <p:nvSpPr>
          <p:cNvPr id="17" name="TextBox 17"/>
          <p:cNvSpPr txBox="1"/>
          <p:nvPr/>
        </p:nvSpPr>
        <p:spPr>
          <a:xfrm>
            <a:off x="1222570" y="3698022"/>
            <a:ext cx="15211238" cy="5699125"/>
          </a:xfrm>
          <a:prstGeom prst="rect">
            <a:avLst/>
          </a:prstGeom>
        </p:spPr>
        <p:txBody>
          <a:bodyPr lIns="0" tIns="0" rIns="0" bIns="0" rtlCol="0" anchor="t">
            <a:spAutoFit/>
          </a:bodyPr>
          <a:lstStyle/>
          <a:p>
            <a:pPr algn="just">
              <a:lnSpc>
                <a:spcPts val="3499"/>
              </a:lnSpc>
            </a:pPr>
            <a:r>
              <a:rPr lang="en-US" sz="2499">
                <a:solidFill>
                  <a:srgbClr val="000000"/>
                </a:solidFill>
                <a:latin typeface="Poppins"/>
                <a:ea typeface="Poppins"/>
                <a:cs typeface="Poppins"/>
                <a:sym typeface="Poppins"/>
              </a:rPr>
              <a:t>Projeyi seçmekteki amacımız , otonom şekilde ilerleyen araçların hata yapmadan nasıl ilerleyeceğini fiziksel testlerle yapan firmaların aslında bu denli bir proje ile 2D boyutlarla bir web sitesi üzerinden otonom araca ya da robot için eğittikleri modelleri maliyet açısından 0'a düşürerek nasıl yapılabileceğini görmek istememizden. </a:t>
            </a:r>
          </a:p>
          <a:p>
            <a:pPr algn="just">
              <a:lnSpc>
                <a:spcPts val="3499"/>
              </a:lnSpc>
            </a:pPr>
            <a:endParaRPr lang="en-US" sz="2499">
              <a:solidFill>
                <a:srgbClr val="000000"/>
              </a:solidFill>
              <a:latin typeface="Poppins"/>
              <a:ea typeface="Poppins"/>
              <a:cs typeface="Poppins"/>
              <a:sym typeface="Poppins"/>
            </a:endParaRPr>
          </a:p>
          <a:p>
            <a:pPr algn="just">
              <a:lnSpc>
                <a:spcPts val="3499"/>
              </a:lnSpc>
            </a:pPr>
            <a:r>
              <a:rPr lang="en-US" sz="2499">
                <a:solidFill>
                  <a:srgbClr val="000000"/>
                </a:solidFill>
                <a:latin typeface="Poppins"/>
                <a:ea typeface="Poppins"/>
                <a:cs typeface="Poppins"/>
                <a:sym typeface="Poppins"/>
              </a:rPr>
              <a:t>Bu tarz bir web arayüzünün aşşağıdaki gibi avantajları olacağını da ön görerek bu projeyi yapaya karar verdik :</a:t>
            </a:r>
          </a:p>
          <a:p>
            <a:pPr algn="just">
              <a:lnSpc>
                <a:spcPts val="3499"/>
              </a:lnSpc>
            </a:pPr>
            <a:endParaRPr lang="en-US" sz="2499">
              <a:solidFill>
                <a:srgbClr val="000000"/>
              </a:solidFill>
              <a:latin typeface="Poppins"/>
              <a:ea typeface="Poppins"/>
              <a:cs typeface="Poppins"/>
              <a:sym typeface="Poppins"/>
            </a:endParaRPr>
          </a:p>
          <a:p>
            <a:pPr marL="539749" lvl="1" indent="-269875" algn="just">
              <a:lnSpc>
                <a:spcPts val="3499"/>
              </a:lnSpc>
              <a:buFont typeface="Arial"/>
              <a:buChar char="•"/>
            </a:pPr>
            <a:r>
              <a:rPr lang="en-US" sz="2499">
                <a:solidFill>
                  <a:srgbClr val="000000"/>
                </a:solidFill>
                <a:latin typeface="Poppins"/>
                <a:ea typeface="Poppins"/>
                <a:cs typeface="Poppins"/>
                <a:sym typeface="Poppins"/>
              </a:rPr>
              <a:t>Modelin karşılaşabileceği her türlü zorlu engel durumunu fiziksel olarak zor olabilir , bu şekilde tek tıkta modelin bulunduğu bağlamı değiştirebiliyoruz.</a:t>
            </a:r>
          </a:p>
          <a:p>
            <a:pPr marL="539749" lvl="1" indent="-269875" algn="just">
              <a:lnSpc>
                <a:spcPts val="3499"/>
              </a:lnSpc>
              <a:buFont typeface="Arial"/>
              <a:buChar char="•"/>
            </a:pPr>
            <a:r>
              <a:rPr lang="en-US" sz="2499">
                <a:solidFill>
                  <a:srgbClr val="000000"/>
                </a:solidFill>
                <a:latin typeface="Poppins"/>
                <a:ea typeface="Poppins"/>
                <a:cs typeface="Poppins"/>
                <a:sym typeface="Poppins"/>
              </a:rPr>
              <a:t>Birden fazla modeli eş zamanlı deneyebilmek ve birbirine göre avatajlarını kıyaslayabilmek</a:t>
            </a:r>
          </a:p>
          <a:p>
            <a:pPr marL="539749" lvl="1" indent="-269875" algn="just">
              <a:lnSpc>
                <a:spcPts val="3499"/>
              </a:lnSpc>
              <a:buFont typeface="Arial"/>
              <a:buChar char="•"/>
            </a:pPr>
            <a:r>
              <a:rPr lang="en-US" sz="2499">
                <a:solidFill>
                  <a:srgbClr val="000000"/>
                </a:solidFill>
                <a:latin typeface="Poppins"/>
                <a:ea typeface="Poppins"/>
                <a:cs typeface="Poppins"/>
                <a:sym typeface="Poppins"/>
              </a:rPr>
              <a:t>3D şekilde simüle edebilmek</a:t>
            </a:r>
          </a:p>
          <a:p>
            <a:pPr algn="just">
              <a:lnSpc>
                <a:spcPts val="3499"/>
              </a:lnSpc>
              <a:spcBef>
                <a:spcPct val="0"/>
              </a:spcBef>
            </a:pPr>
            <a:endParaRPr lang="en-US" sz="2499">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97628" y="1160679"/>
            <a:ext cx="14618893" cy="122237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dirty="0" err="1">
                <a:solidFill>
                  <a:srgbClr val="311581"/>
                </a:solidFill>
                <a:latin typeface="Libre Baskerville Italics"/>
                <a:ea typeface="Libre Baskerville Italics"/>
                <a:cs typeface="Libre Baskerville Italics"/>
                <a:sym typeface="Libre Baskerville Italics"/>
              </a:rPr>
              <a:t>Takviyeli</a:t>
            </a:r>
            <a:r>
              <a:rPr lang="en-US" sz="9999" i="1" u="none" strike="noStrike" spc="-299" dirty="0">
                <a:solidFill>
                  <a:srgbClr val="311581"/>
                </a:solidFill>
                <a:latin typeface="Libre Baskerville Italics"/>
                <a:ea typeface="Libre Baskerville Italics"/>
                <a:cs typeface="Libre Baskerville Italics"/>
                <a:sym typeface="Libre Baskerville Italics"/>
              </a:rPr>
              <a:t> </a:t>
            </a:r>
            <a:r>
              <a:rPr lang="en-US" sz="9999" i="1" u="none" strike="noStrike" spc="-299" dirty="0" err="1">
                <a:solidFill>
                  <a:srgbClr val="311581"/>
                </a:solidFill>
                <a:latin typeface="Libre Baskerville Italics"/>
                <a:ea typeface="Libre Baskerville Italics"/>
                <a:cs typeface="Libre Baskerville Italics"/>
                <a:sym typeface="Libre Baskerville Italics"/>
              </a:rPr>
              <a:t>Öğrenme</a:t>
            </a:r>
            <a:r>
              <a:rPr lang="en-US" sz="9999" i="1" u="none" strike="noStrike" spc="-299" dirty="0">
                <a:solidFill>
                  <a:srgbClr val="311581"/>
                </a:solidFill>
                <a:latin typeface="Libre Baskerville Italics"/>
                <a:ea typeface="Libre Baskerville Italics"/>
                <a:cs typeface="Libre Baskerville Italics"/>
                <a:sym typeface="Libre Baskerville Italics"/>
              </a:rPr>
              <a:t> Nedir?</a:t>
            </a:r>
          </a:p>
        </p:txBody>
      </p:sp>
      <p:grpSp>
        <p:nvGrpSpPr>
          <p:cNvPr id="3" name="Group 3"/>
          <p:cNvGrpSpPr/>
          <p:nvPr/>
        </p:nvGrpSpPr>
        <p:grpSpPr>
          <a:xfrm rot="5400000">
            <a:off x="-553026" y="9083364"/>
            <a:ext cx="1981177" cy="198117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5400000">
            <a:off x="1873451" y="-990589"/>
            <a:ext cx="1981177" cy="198117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5400000">
            <a:off x="6102916" y="9511446"/>
            <a:ext cx="1553095" cy="155309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rot="5400000">
            <a:off x="882863" y="-775554"/>
            <a:ext cx="1553095" cy="155309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Freeform 15"/>
          <p:cNvSpPr/>
          <p:nvPr/>
        </p:nvSpPr>
        <p:spPr>
          <a:xfrm>
            <a:off x="4736389" y="6485245"/>
            <a:ext cx="7055069" cy="3968476"/>
          </a:xfrm>
          <a:custGeom>
            <a:avLst/>
            <a:gdLst/>
            <a:ahLst/>
            <a:cxnLst/>
            <a:rect l="l" t="t" r="r" b="b"/>
            <a:pathLst>
              <a:path w="7055069" h="3968476">
                <a:moveTo>
                  <a:pt x="0" y="0"/>
                </a:moveTo>
                <a:lnTo>
                  <a:pt x="7055069" y="0"/>
                </a:lnTo>
                <a:lnTo>
                  <a:pt x="7055069" y="3968476"/>
                </a:lnTo>
                <a:lnTo>
                  <a:pt x="0" y="3968476"/>
                </a:lnTo>
                <a:lnTo>
                  <a:pt x="0" y="0"/>
                </a:lnTo>
                <a:close/>
              </a:path>
            </a:pathLst>
          </a:custGeom>
          <a:blipFill>
            <a:blip r:embed="rId2"/>
            <a:stretch>
              <a:fillRect/>
            </a:stretch>
          </a:blipFill>
        </p:spPr>
        <p:txBody>
          <a:bodyPr/>
          <a:lstStyle/>
          <a:p>
            <a:endParaRPr lang="tr-TR"/>
          </a:p>
        </p:txBody>
      </p:sp>
      <p:sp>
        <p:nvSpPr>
          <p:cNvPr id="16" name="TextBox 16"/>
          <p:cNvSpPr txBox="1"/>
          <p:nvPr/>
        </p:nvSpPr>
        <p:spPr>
          <a:xfrm>
            <a:off x="1312393" y="3598015"/>
            <a:ext cx="14189362" cy="2939415"/>
          </a:xfrm>
          <a:prstGeom prst="rect">
            <a:avLst/>
          </a:prstGeom>
        </p:spPr>
        <p:txBody>
          <a:bodyPr lIns="0" tIns="0" rIns="0" bIns="0" rtlCol="0" anchor="t">
            <a:spAutoFit/>
          </a:bodyPr>
          <a:lstStyle/>
          <a:p>
            <a:pPr marL="0" lvl="0" indent="0" algn="l">
              <a:lnSpc>
                <a:spcPts val="3359"/>
              </a:lnSpc>
              <a:spcBef>
                <a:spcPct val="0"/>
              </a:spcBef>
            </a:pPr>
            <a:r>
              <a:rPr lang="en-US" sz="2399" dirty="0" err="1">
                <a:solidFill>
                  <a:srgbClr val="000000"/>
                </a:solidFill>
                <a:latin typeface="Poppins"/>
                <a:ea typeface="Poppins"/>
                <a:cs typeface="Poppins"/>
                <a:sym typeface="Poppins"/>
              </a:rPr>
              <a:t>Takviyeli</a:t>
            </a:r>
            <a:r>
              <a:rPr lang="en-US" sz="2399"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öğrenme</a:t>
            </a:r>
            <a:r>
              <a:rPr lang="en-US" sz="2399" u="none" strike="noStrike" dirty="0">
                <a:solidFill>
                  <a:srgbClr val="000000"/>
                </a:solidFill>
                <a:latin typeface="Poppins"/>
                <a:ea typeface="Poppins"/>
                <a:cs typeface="Poppins"/>
                <a:sym typeface="Poppins"/>
              </a:rPr>
              <a:t> (RL), </a:t>
            </a:r>
            <a:r>
              <a:rPr lang="en-US" sz="2399" u="none" strike="noStrike" dirty="0" err="1">
                <a:solidFill>
                  <a:srgbClr val="000000"/>
                </a:solidFill>
                <a:latin typeface="Poppins"/>
                <a:ea typeface="Poppins"/>
                <a:cs typeface="Poppins"/>
                <a:sym typeface="Poppins"/>
              </a:rPr>
              <a:t>ajanın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çevreyle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doğrudan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etkileşime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girerek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edindiği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deneyimlerden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uygun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davranışı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kendi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kendine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öğrenmesini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sağlar</a:t>
            </a:r>
            <a:r>
              <a:rPr lang="en-US" sz="2399" u="none" strike="noStrike" dirty="0">
                <a:solidFill>
                  <a:srgbClr val="000000"/>
                </a:solidFill>
                <a:latin typeface="Poppins"/>
                <a:ea typeface="Poppins"/>
                <a:cs typeface="Poppins"/>
                <a:sym typeface="Poppins"/>
              </a:rPr>
              <a:t>. Bu </a:t>
            </a:r>
            <a:r>
              <a:rPr lang="en-US" sz="2399" u="none" strike="noStrike" dirty="0" err="1">
                <a:solidFill>
                  <a:srgbClr val="000000"/>
                </a:solidFill>
                <a:latin typeface="Poppins"/>
                <a:ea typeface="Poppins"/>
                <a:cs typeface="Poppins"/>
                <a:sym typeface="Poppins"/>
              </a:rPr>
              <a:t>süreç</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ajanın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hedefe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yönelik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doğru</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adımlarında</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puan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kazandığı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hatalı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kararlarında</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ise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puan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kaybettiği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bir</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ödül-ceza</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mekanizmasına</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dayanır</a:t>
            </a:r>
            <a:r>
              <a:rPr lang="en-US" sz="2399" u="none" strike="noStrike" dirty="0">
                <a:solidFill>
                  <a:srgbClr val="000000"/>
                </a:solidFill>
                <a:latin typeface="Poppins"/>
                <a:ea typeface="Poppins"/>
                <a:cs typeface="Poppins"/>
                <a:sym typeface="Poppins"/>
              </a:rPr>
              <a:t>.)</a:t>
            </a:r>
          </a:p>
          <a:p>
            <a:pPr marL="0" lvl="0" indent="0" algn="l">
              <a:lnSpc>
                <a:spcPts val="3359"/>
              </a:lnSpc>
              <a:spcBef>
                <a:spcPct val="0"/>
              </a:spcBef>
            </a:pPr>
            <a:endParaRPr lang="en-US" sz="2399" u="none" strike="noStrike" dirty="0">
              <a:solidFill>
                <a:srgbClr val="000000"/>
              </a:solidFill>
              <a:latin typeface="Poppins"/>
              <a:ea typeface="Poppins"/>
              <a:cs typeface="Poppins"/>
              <a:sym typeface="Poppins"/>
            </a:endParaRPr>
          </a:p>
          <a:p>
            <a:pPr marL="0" lvl="0" indent="0" algn="l">
              <a:lnSpc>
                <a:spcPts val="3359"/>
              </a:lnSpc>
              <a:spcBef>
                <a:spcPct val="0"/>
              </a:spcBef>
            </a:pPr>
            <a:r>
              <a:rPr lang="en-US" sz="2399" u="none" strike="noStrike" dirty="0" err="1">
                <a:solidFill>
                  <a:srgbClr val="000000"/>
                </a:solidFill>
                <a:latin typeface="Poppins"/>
                <a:ea typeface="Poppins"/>
                <a:cs typeface="Poppins"/>
                <a:sym typeface="Poppins"/>
              </a:rPr>
              <a:t>Ajanın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nihai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amacı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anlık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kazançlardan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ziyade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uzun</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vadede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elde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edeceği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kümülatif</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toplam</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ödülü</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maksimize</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edecek</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en</a:t>
            </a:r>
            <a:r>
              <a:rPr lang="en-US" sz="2399" u="none" strike="noStrike" dirty="0">
                <a:solidFill>
                  <a:srgbClr val="000000"/>
                </a:solidFill>
                <a:latin typeface="Poppins"/>
                <a:ea typeface="Poppins"/>
                <a:cs typeface="Poppins"/>
                <a:sym typeface="Poppins"/>
              </a:rPr>
              <a:t> ideal </a:t>
            </a:r>
            <a:r>
              <a:rPr lang="en-US" sz="2399" u="none" strike="noStrike" dirty="0" err="1">
                <a:solidFill>
                  <a:srgbClr val="000000"/>
                </a:solidFill>
                <a:latin typeface="Poppins"/>
                <a:ea typeface="Poppins"/>
                <a:cs typeface="Poppins"/>
                <a:sym typeface="Poppins"/>
              </a:rPr>
              <a:t>stratejiyi</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yani</a:t>
            </a:r>
            <a:r>
              <a:rPr lang="en-US" sz="2399" u="none" strike="noStrike" dirty="0">
                <a:solidFill>
                  <a:srgbClr val="000000"/>
                </a:solidFill>
                <a:latin typeface="Poppins"/>
                <a:ea typeface="Poppins"/>
                <a:cs typeface="Poppins"/>
                <a:sym typeface="Poppins"/>
              </a:rPr>
              <a:t> optimum </a:t>
            </a:r>
            <a:r>
              <a:rPr lang="en-US" sz="2399" u="none" strike="noStrike" dirty="0" err="1">
                <a:solidFill>
                  <a:srgbClr val="000000"/>
                </a:solidFill>
                <a:latin typeface="Poppins"/>
                <a:ea typeface="Poppins"/>
                <a:cs typeface="Poppins"/>
                <a:sym typeface="Poppins"/>
              </a:rPr>
              <a:t>politikayı</a:t>
            </a:r>
            <a:r>
              <a:rPr lang="en-US" sz="2399" u="none" strike="noStrike" dirty="0">
                <a:solidFill>
                  <a:srgbClr val="000000"/>
                </a:solidFill>
                <a:latin typeface="Poppins"/>
                <a:ea typeface="Poppins"/>
                <a:cs typeface="Poppins"/>
                <a:sym typeface="Poppins"/>
              </a:rPr>
              <a:t> </a:t>
            </a:r>
            <a:r>
              <a:rPr lang="en-US" sz="2399" u="none" strike="noStrike" dirty="0" err="1">
                <a:solidFill>
                  <a:srgbClr val="000000"/>
                </a:solidFill>
                <a:latin typeface="Poppins"/>
                <a:ea typeface="Poppins"/>
                <a:cs typeface="Poppins"/>
                <a:sym typeface="Poppins"/>
              </a:rPr>
              <a:t>keşfetmektir</a:t>
            </a:r>
            <a:r>
              <a:rPr lang="en-US" sz="2399" u="none" strike="noStrike" dirty="0">
                <a:solidFill>
                  <a:srgbClr val="000000"/>
                </a:solidFill>
                <a:latin typeface="Poppins"/>
                <a:ea typeface="Poppins"/>
                <a:cs typeface="Poppins"/>
                <a:sym typeface="Poppin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1535988" y="1143605"/>
            <a:ext cx="4517944" cy="2230735"/>
          </a:xfrm>
          <a:custGeom>
            <a:avLst/>
            <a:gdLst/>
            <a:ahLst/>
            <a:cxnLst/>
            <a:rect l="l" t="t" r="r" b="b"/>
            <a:pathLst>
              <a:path w="4517944" h="2230735">
                <a:moveTo>
                  <a:pt x="4517945" y="2230735"/>
                </a:moveTo>
                <a:lnTo>
                  <a:pt x="0" y="2230735"/>
                </a:lnTo>
                <a:lnTo>
                  <a:pt x="0" y="0"/>
                </a:lnTo>
                <a:lnTo>
                  <a:pt x="4517945" y="0"/>
                </a:lnTo>
                <a:lnTo>
                  <a:pt x="4517945" y="2230735"/>
                </a:lnTo>
                <a:close/>
              </a:path>
            </a:pathLst>
          </a:custGeom>
          <a:blipFill>
            <a:blip r:embed="rId2">
              <a:alphaModFix amt="31999"/>
            </a:blip>
            <a:stretch>
              <a:fillRect/>
            </a:stretch>
          </a:blipFill>
        </p:spPr>
        <p:txBody>
          <a:bodyPr/>
          <a:lstStyle/>
          <a:p>
            <a:endParaRPr lang="tr-TR"/>
          </a:p>
        </p:txBody>
      </p:sp>
      <p:grpSp>
        <p:nvGrpSpPr>
          <p:cNvPr id="3" name="Group 3"/>
          <p:cNvGrpSpPr/>
          <p:nvPr/>
        </p:nvGrpSpPr>
        <p:grpSpPr>
          <a:xfrm rot="5400000">
            <a:off x="2216574" y="9376960"/>
            <a:ext cx="1998472" cy="199847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139"/>
                </a:lnSpc>
              </a:pPr>
              <a:endParaRPr/>
            </a:p>
          </p:txBody>
        </p:sp>
      </p:grpSp>
      <p:grpSp>
        <p:nvGrpSpPr>
          <p:cNvPr id="6" name="Group 6"/>
          <p:cNvGrpSpPr/>
          <p:nvPr/>
        </p:nvGrpSpPr>
        <p:grpSpPr>
          <a:xfrm rot="-5400000">
            <a:off x="14611788" y="-559069"/>
            <a:ext cx="1998472" cy="199847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139"/>
                </a:lnSpc>
              </a:pPr>
              <a:endParaRPr/>
            </a:p>
          </p:txBody>
        </p:sp>
      </p:grpSp>
      <p:sp>
        <p:nvSpPr>
          <p:cNvPr id="9" name="TextBox 9"/>
          <p:cNvSpPr txBox="1"/>
          <p:nvPr/>
        </p:nvSpPr>
        <p:spPr>
          <a:xfrm>
            <a:off x="1541580" y="1323975"/>
            <a:ext cx="12905514" cy="122237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Temel RL Kavramları</a:t>
            </a:r>
          </a:p>
        </p:txBody>
      </p:sp>
      <p:sp>
        <p:nvSpPr>
          <p:cNvPr id="10" name="TextBox 10"/>
          <p:cNvSpPr txBox="1"/>
          <p:nvPr/>
        </p:nvSpPr>
        <p:spPr>
          <a:xfrm>
            <a:off x="722985" y="3092490"/>
            <a:ext cx="17565015" cy="6292215"/>
          </a:xfrm>
          <a:prstGeom prst="rect">
            <a:avLst/>
          </a:prstGeom>
        </p:spPr>
        <p:txBody>
          <a:bodyPr lIns="0" tIns="0" rIns="0" bIns="0" rtlCol="0" anchor="t">
            <a:spAutoFit/>
          </a:bodyPr>
          <a:lstStyle/>
          <a:p>
            <a:pPr marL="0" lvl="0" indent="0" algn="l">
              <a:lnSpc>
                <a:spcPts val="3359"/>
              </a:lnSpc>
              <a:spcBef>
                <a:spcPct val="0"/>
              </a:spcBef>
            </a:pPr>
            <a:r>
              <a:rPr lang="en-US" sz="2399" b="1" u="none" strike="noStrike">
                <a:solidFill>
                  <a:srgbClr val="000000"/>
                </a:solidFill>
                <a:latin typeface="Poppins Bold"/>
                <a:ea typeface="Poppins Bold"/>
                <a:cs typeface="Poppins Bold"/>
                <a:sym typeface="Poppins Bold"/>
              </a:rPr>
              <a:t>Durum / Gözlem (s):</a:t>
            </a:r>
            <a:r>
              <a:rPr lang="en-US" sz="2399" u="none" strike="noStrike">
                <a:solidFill>
                  <a:srgbClr val="000000"/>
                </a:solidFill>
                <a:latin typeface="Poppins"/>
                <a:ea typeface="Poppins"/>
                <a:cs typeface="Poppins"/>
                <a:sym typeface="Poppins"/>
              </a:rPr>
              <a:t> Ajanın (agent) belirli bir t anında içinde bulunduğu ortamı, kendi koşullarını ve çevresini tanımlayan anlık veri veya bilgi setidir. </a:t>
            </a:r>
          </a:p>
          <a:p>
            <a:pPr marL="0" lvl="0" indent="0" algn="l">
              <a:lnSpc>
                <a:spcPts val="3359"/>
              </a:lnSpc>
              <a:spcBef>
                <a:spcPct val="0"/>
              </a:spcBef>
            </a:pPr>
            <a:endParaRPr lang="en-US" sz="2399" u="none" strike="noStrike">
              <a:solidFill>
                <a:srgbClr val="000000"/>
              </a:solidFill>
              <a:latin typeface="Poppins"/>
              <a:ea typeface="Poppins"/>
              <a:cs typeface="Poppins"/>
              <a:sym typeface="Poppins"/>
            </a:endParaRPr>
          </a:p>
          <a:p>
            <a:pPr marL="0" lvl="0" indent="0" algn="l">
              <a:lnSpc>
                <a:spcPts val="3359"/>
              </a:lnSpc>
              <a:spcBef>
                <a:spcPct val="0"/>
              </a:spcBef>
            </a:pPr>
            <a:r>
              <a:rPr lang="en-US" sz="2399" b="1" u="none" strike="noStrike">
                <a:solidFill>
                  <a:srgbClr val="000000"/>
                </a:solidFill>
                <a:latin typeface="Poppins Bold"/>
                <a:ea typeface="Poppins Bold"/>
                <a:cs typeface="Poppins Bold"/>
                <a:sym typeface="Poppins Bold"/>
              </a:rPr>
              <a:t>Aksiyon (a): </a:t>
            </a:r>
            <a:r>
              <a:rPr lang="en-US" sz="2399" u="none" strike="noStrike">
                <a:solidFill>
                  <a:srgbClr val="000000"/>
                </a:solidFill>
                <a:latin typeface="Poppins"/>
                <a:ea typeface="Poppins"/>
                <a:cs typeface="Poppins"/>
                <a:sym typeface="Poppins"/>
              </a:rPr>
              <a:t>Ajanın mevcut durumunda, çevresiyle etkileşime geçmek veya durumunu değiştirmek için gerçekleştirebileceği olası tüm hamlelerin (kararların) kümesidir.</a:t>
            </a:r>
          </a:p>
          <a:p>
            <a:pPr marL="0" lvl="0" indent="0" algn="l">
              <a:lnSpc>
                <a:spcPts val="3359"/>
              </a:lnSpc>
              <a:spcBef>
                <a:spcPct val="0"/>
              </a:spcBef>
            </a:pPr>
            <a:endParaRPr lang="en-US" sz="2399" u="none" strike="noStrike">
              <a:solidFill>
                <a:srgbClr val="000000"/>
              </a:solidFill>
              <a:latin typeface="Poppins"/>
              <a:ea typeface="Poppins"/>
              <a:cs typeface="Poppins"/>
              <a:sym typeface="Poppins"/>
            </a:endParaRPr>
          </a:p>
          <a:p>
            <a:pPr marL="0" lvl="0" indent="0" algn="l">
              <a:lnSpc>
                <a:spcPts val="3359"/>
              </a:lnSpc>
              <a:spcBef>
                <a:spcPct val="0"/>
              </a:spcBef>
            </a:pPr>
            <a:r>
              <a:rPr lang="en-US" sz="2399" b="1" u="none" strike="noStrike">
                <a:solidFill>
                  <a:srgbClr val="000000"/>
                </a:solidFill>
                <a:latin typeface="Poppins Bold"/>
                <a:ea typeface="Poppins Bold"/>
                <a:cs typeface="Poppins Bold"/>
                <a:sym typeface="Poppins Bold"/>
              </a:rPr>
              <a:t>Ödül (r): </a:t>
            </a:r>
            <a:r>
              <a:rPr lang="en-US" sz="2399" u="none" strike="noStrike">
                <a:solidFill>
                  <a:srgbClr val="000000"/>
                </a:solidFill>
                <a:latin typeface="Poppins"/>
                <a:ea typeface="Poppins"/>
                <a:cs typeface="Poppins"/>
                <a:sym typeface="Poppins"/>
              </a:rPr>
              <a:t>Ajanın seçtiği bir aksiyon sonucunda çevreden anında aldığı sayısal (skaler) geri bildirimdir. Bu sinyal, yapılan hamlenin problemin amacına ne kadar uygun olduğunu gösterir.</a:t>
            </a:r>
          </a:p>
          <a:p>
            <a:pPr marL="0" lvl="0" indent="0" algn="l">
              <a:lnSpc>
                <a:spcPts val="3359"/>
              </a:lnSpc>
              <a:spcBef>
                <a:spcPct val="0"/>
              </a:spcBef>
            </a:pPr>
            <a:endParaRPr lang="en-US" sz="2399" u="none" strike="noStrike">
              <a:solidFill>
                <a:srgbClr val="000000"/>
              </a:solidFill>
              <a:latin typeface="Poppins"/>
              <a:ea typeface="Poppins"/>
              <a:cs typeface="Poppins"/>
              <a:sym typeface="Poppins"/>
            </a:endParaRPr>
          </a:p>
          <a:p>
            <a:pPr marL="0" lvl="0" indent="0" algn="l">
              <a:lnSpc>
                <a:spcPts val="3359"/>
              </a:lnSpc>
              <a:spcBef>
                <a:spcPct val="0"/>
              </a:spcBef>
            </a:pPr>
            <a:r>
              <a:rPr lang="en-US" sz="2399" b="1" u="none" strike="noStrike">
                <a:solidFill>
                  <a:srgbClr val="000000"/>
                </a:solidFill>
                <a:latin typeface="Poppins Bold"/>
                <a:ea typeface="Poppins Bold"/>
                <a:cs typeface="Poppins Bold"/>
                <a:sym typeface="Poppins Bold"/>
              </a:rPr>
              <a:t>Politika (pi): </a:t>
            </a:r>
            <a:r>
              <a:rPr lang="en-US" sz="2399" u="none" strike="noStrike">
                <a:solidFill>
                  <a:srgbClr val="000000"/>
                </a:solidFill>
                <a:latin typeface="Poppins"/>
                <a:ea typeface="Poppins"/>
                <a:cs typeface="Poppins"/>
                <a:sym typeface="Poppins"/>
              </a:rPr>
              <a:t>Ajanın "hangi durumda hangi aksiyonu alması gerektiğini" belirleyen matematiksel strateji, kural veya olasılık dağılımıdır. Ajanın nihai amacı, toplam ödülü maksimize edecek en iyi (optimum) politikayı bulmaktır.</a:t>
            </a:r>
          </a:p>
          <a:p>
            <a:pPr marL="0" lvl="0" indent="0" algn="l">
              <a:lnSpc>
                <a:spcPts val="3359"/>
              </a:lnSpc>
              <a:spcBef>
                <a:spcPct val="0"/>
              </a:spcBef>
            </a:pPr>
            <a:endParaRPr lang="en-US" sz="2399" u="none" strike="noStrike">
              <a:solidFill>
                <a:srgbClr val="000000"/>
              </a:solidFill>
              <a:latin typeface="Poppins"/>
              <a:ea typeface="Poppins"/>
              <a:cs typeface="Poppins"/>
              <a:sym typeface="Poppins"/>
            </a:endParaRPr>
          </a:p>
          <a:p>
            <a:pPr marL="0" lvl="0" indent="0" algn="l">
              <a:lnSpc>
                <a:spcPts val="3359"/>
              </a:lnSpc>
              <a:spcBef>
                <a:spcPct val="0"/>
              </a:spcBef>
            </a:pPr>
            <a:r>
              <a:rPr lang="en-US" sz="2399" b="1" u="none" strike="noStrike">
                <a:solidFill>
                  <a:srgbClr val="000000"/>
                </a:solidFill>
                <a:latin typeface="Poppins Bold"/>
                <a:ea typeface="Poppins Bold"/>
                <a:cs typeface="Poppins Bold"/>
                <a:sym typeface="Poppins Bold"/>
              </a:rPr>
              <a:t>İndirim Faktörü (gamma): </a:t>
            </a:r>
            <a:r>
              <a:rPr lang="en-US" sz="2399" u="none" strike="noStrike">
                <a:solidFill>
                  <a:srgbClr val="000000"/>
                </a:solidFill>
                <a:latin typeface="Poppins"/>
                <a:ea typeface="Poppins"/>
                <a:cs typeface="Poppins"/>
                <a:sym typeface="Poppins"/>
              </a:rPr>
              <a:t>Gelecekte elde edilecek ödüllerin, anlık ödüllere kıyasla ne kadar önemseneceğini belirleyen ve 0 ile 1 arasında değer alan (genellikle 0.90 - 0.99) hiperparametredir. Ajanın kısa vadeli kazançlar ile uzun vadeli hedefler arasındaki dengesini ayarlar.</a:t>
            </a:r>
          </a:p>
        </p:txBody>
      </p:sp>
      <p:sp>
        <p:nvSpPr>
          <p:cNvPr id="11" name="Freeform 11"/>
          <p:cNvSpPr/>
          <p:nvPr/>
        </p:nvSpPr>
        <p:spPr>
          <a:xfrm>
            <a:off x="15118099" y="122555"/>
            <a:ext cx="985850" cy="985850"/>
          </a:xfrm>
          <a:custGeom>
            <a:avLst/>
            <a:gdLst/>
            <a:ahLst/>
            <a:cxnLst/>
            <a:rect l="l" t="t" r="r" b="b"/>
            <a:pathLst>
              <a:path w="985850" h="985850">
                <a:moveTo>
                  <a:pt x="0" y="0"/>
                </a:moveTo>
                <a:lnTo>
                  <a:pt x="985849" y="0"/>
                </a:lnTo>
                <a:lnTo>
                  <a:pt x="985849" y="985850"/>
                </a:lnTo>
                <a:lnTo>
                  <a:pt x="0" y="985850"/>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tr-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17217" y="1323975"/>
            <a:ext cx="15148212"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Takviyeli Öğrenmeyi Neden Seçtik?</a:t>
            </a:r>
          </a:p>
        </p:txBody>
      </p:sp>
      <p:grpSp>
        <p:nvGrpSpPr>
          <p:cNvPr id="3" name="Group 3"/>
          <p:cNvGrpSpPr/>
          <p:nvPr/>
        </p:nvGrpSpPr>
        <p:grpSpPr>
          <a:xfrm>
            <a:off x="17065430" y="5932573"/>
            <a:ext cx="2445141" cy="244514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10800000">
            <a:off x="-1223796" y="904919"/>
            <a:ext cx="2445141" cy="24451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10800000">
            <a:off x="17328370" y="7678446"/>
            <a:ext cx="1916807" cy="191680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a:off x="-960856" y="2650792"/>
            <a:ext cx="1916807" cy="191680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Freeform 15"/>
          <p:cNvSpPr/>
          <p:nvPr/>
        </p:nvSpPr>
        <p:spPr>
          <a:xfrm flipH="1" flipV="1">
            <a:off x="448249" y="8845163"/>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16" name="Freeform 16"/>
          <p:cNvSpPr/>
          <p:nvPr/>
        </p:nvSpPr>
        <p:spPr>
          <a:xfrm>
            <a:off x="13321807" y="-78889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17" name="TextBox 17"/>
          <p:cNvSpPr txBox="1"/>
          <p:nvPr/>
        </p:nvSpPr>
        <p:spPr>
          <a:xfrm>
            <a:off x="2079672" y="4440134"/>
            <a:ext cx="13501108" cy="4196715"/>
          </a:xfrm>
          <a:prstGeom prst="rect">
            <a:avLst/>
          </a:prstGeom>
        </p:spPr>
        <p:txBody>
          <a:bodyPr lIns="0" tIns="0" rIns="0" bIns="0" rtlCol="0" anchor="t">
            <a:spAutoFit/>
          </a:bodyPr>
          <a:lstStyle/>
          <a:p>
            <a:pPr marL="0" lvl="0" indent="0" algn="l">
              <a:lnSpc>
                <a:spcPts val="3359"/>
              </a:lnSpc>
              <a:spcBef>
                <a:spcPct val="0"/>
              </a:spcBef>
            </a:pPr>
            <a:r>
              <a:rPr lang="en-US" sz="2399" u="none" strike="noStrike">
                <a:solidFill>
                  <a:srgbClr val="000000"/>
                </a:solidFill>
                <a:latin typeface="Poppins"/>
                <a:ea typeface="Poppins"/>
                <a:cs typeface="Poppins"/>
                <a:sym typeface="Poppins"/>
              </a:rPr>
              <a:t>Takviyeli Öğrenmeyi seçmekteki amacımız projenin anabaşlığı olan otonom sürüşleri simüle etmemizden kaynaklı oluyor aslında. </a:t>
            </a:r>
          </a:p>
          <a:p>
            <a:pPr marL="0" lvl="0" indent="0" algn="l">
              <a:lnSpc>
                <a:spcPts val="3359"/>
              </a:lnSpc>
              <a:spcBef>
                <a:spcPct val="0"/>
              </a:spcBef>
            </a:pPr>
            <a:endParaRPr lang="en-US" sz="2399" u="none" strike="noStrike">
              <a:solidFill>
                <a:srgbClr val="000000"/>
              </a:solidFill>
              <a:latin typeface="Poppins"/>
              <a:ea typeface="Poppins"/>
              <a:cs typeface="Poppins"/>
              <a:sym typeface="Poppins"/>
            </a:endParaRPr>
          </a:p>
          <a:p>
            <a:pPr marL="0" lvl="0" indent="0" algn="l">
              <a:lnSpc>
                <a:spcPts val="3359"/>
              </a:lnSpc>
              <a:spcBef>
                <a:spcPct val="0"/>
              </a:spcBef>
            </a:pPr>
            <a:r>
              <a:rPr lang="en-US" sz="2399" u="none" strike="noStrike">
                <a:solidFill>
                  <a:srgbClr val="000000"/>
                </a:solidFill>
                <a:latin typeface="Poppins"/>
                <a:ea typeface="Poppins"/>
                <a:cs typeface="Poppins"/>
                <a:sym typeface="Poppins"/>
              </a:rPr>
              <a:t>Otobanda giden bir aracı düşünelim , bu araç belli bir görüş mesafesi ve çeşitli sensörlerle , ki bu sensörler aracın nasıl bir eylem içinde olacağına karar vermesindeki girdileri sağlar , Hedefini ya da amacını otomatik olarak gerçekleştirmeye çalışır.</a:t>
            </a:r>
          </a:p>
          <a:p>
            <a:pPr marL="0" lvl="0" indent="0" algn="l">
              <a:lnSpc>
                <a:spcPts val="3359"/>
              </a:lnSpc>
              <a:spcBef>
                <a:spcPct val="0"/>
              </a:spcBef>
            </a:pPr>
            <a:endParaRPr lang="en-US" sz="2399" u="none" strike="noStrike">
              <a:solidFill>
                <a:srgbClr val="000000"/>
              </a:solidFill>
              <a:latin typeface="Poppins"/>
              <a:ea typeface="Poppins"/>
              <a:cs typeface="Poppins"/>
              <a:sym typeface="Poppins"/>
            </a:endParaRPr>
          </a:p>
          <a:p>
            <a:pPr marL="0" lvl="0" indent="0" algn="l">
              <a:lnSpc>
                <a:spcPts val="3359"/>
              </a:lnSpc>
              <a:spcBef>
                <a:spcPct val="0"/>
              </a:spcBef>
            </a:pPr>
            <a:r>
              <a:rPr lang="en-US" sz="2399" u="none" strike="noStrike">
                <a:solidFill>
                  <a:srgbClr val="000000"/>
                </a:solidFill>
                <a:latin typeface="Poppins"/>
                <a:ea typeface="Poppins"/>
                <a:cs typeface="Poppins"/>
                <a:sym typeface="Poppins"/>
              </a:rPr>
              <a:t>Bizim projemiz için ise bu tarz bir otonomun bir şekilde engelleri tanıyarak belli bir hedef doğrultusunda ilerlemek için en doğru hamleleri yapabilmesini Takviyeli Öğrenme metoduyla gerçekleştirebileceği kanaatindeyiz.</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9806" y="1527983"/>
            <a:ext cx="16758194"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Projenin Katmanları ve Çalışma Şekli</a:t>
            </a:r>
          </a:p>
        </p:txBody>
      </p:sp>
      <p:grpSp>
        <p:nvGrpSpPr>
          <p:cNvPr id="3" name="Group 3"/>
          <p:cNvGrpSpPr/>
          <p:nvPr/>
        </p:nvGrpSpPr>
        <p:grpSpPr>
          <a:xfrm rot="-5400000">
            <a:off x="348845" y="-1306752"/>
            <a:ext cx="2613504" cy="261350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5400000">
            <a:off x="2205979" y="-755403"/>
            <a:ext cx="1512740" cy="151274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5400000">
            <a:off x="13974856" y="9569751"/>
            <a:ext cx="1434499" cy="143449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rot="-5400000">
            <a:off x="14808626" y="9137794"/>
            <a:ext cx="2298412" cy="22984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Freeform 15"/>
          <p:cNvSpPr/>
          <p:nvPr/>
        </p:nvSpPr>
        <p:spPr>
          <a:xfrm flipH="1" flipV="1">
            <a:off x="-1040311" y="8083407"/>
            <a:ext cx="5882579" cy="2904523"/>
          </a:xfrm>
          <a:custGeom>
            <a:avLst/>
            <a:gdLst/>
            <a:ahLst/>
            <a:cxnLst/>
            <a:rect l="l" t="t" r="r" b="b"/>
            <a:pathLst>
              <a:path w="5882579" h="2904523">
                <a:moveTo>
                  <a:pt x="5882579" y="2904523"/>
                </a:moveTo>
                <a:lnTo>
                  <a:pt x="0" y="2904523"/>
                </a:lnTo>
                <a:lnTo>
                  <a:pt x="0" y="0"/>
                </a:lnTo>
                <a:lnTo>
                  <a:pt x="5882579" y="0"/>
                </a:lnTo>
                <a:lnTo>
                  <a:pt x="5882579" y="2904523"/>
                </a:lnTo>
                <a:close/>
              </a:path>
            </a:pathLst>
          </a:custGeom>
          <a:blipFill>
            <a:blip r:embed="rId2">
              <a:alphaModFix amt="31999"/>
            </a:blip>
            <a:stretch>
              <a:fillRect/>
            </a:stretch>
          </a:blipFill>
        </p:spPr>
        <p:txBody>
          <a:bodyPr/>
          <a:lstStyle/>
          <a:p>
            <a:endParaRPr lang="tr-TR"/>
          </a:p>
        </p:txBody>
      </p:sp>
      <p:sp>
        <p:nvSpPr>
          <p:cNvPr id="16" name="TextBox 16"/>
          <p:cNvSpPr txBox="1"/>
          <p:nvPr/>
        </p:nvSpPr>
        <p:spPr>
          <a:xfrm>
            <a:off x="1655597" y="4478655"/>
            <a:ext cx="13501108" cy="1263015"/>
          </a:xfrm>
          <a:prstGeom prst="rect">
            <a:avLst/>
          </a:prstGeom>
        </p:spPr>
        <p:txBody>
          <a:bodyPr lIns="0" tIns="0" rIns="0" bIns="0" rtlCol="0" anchor="t">
            <a:spAutoFit/>
          </a:bodyPr>
          <a:lstStyle/>
          <a:p>
            <a:pPr algn="l">
              <a:lnSpc>
                <a:spcPts val="3359"/>
              </a:lnSpc>
              <a:spcBef>
                <a:spcPct val="0"/>
              </a:spcBef>
            </a:pPr>
            <a:r>
              <a:rPr lang="en-US" sz="2399">
                <a:solidFill>
                  <a:srgbClr val="000000"/>
                </a:solidFill>
                <a:latin typeface="Poppins"/>
                <a:ea typeface="Poppins"/>
                <a:cs typeface="Poppins"/>
                <a:sym typeface="Poppins"/>
              </a:rPr>
              <a:t>Proje eğitilen modelleri simüle edebileceğimiz bir arayüz(websitesi) bu arayüze modellerden gelen cevapları anlık olarak  arayüze response olarak dönen bir backend ve tabii ki asıl önemli parça olan modellerden oluşur.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47220" y="7308187"/>
            <a:ext cx="1681559" cy="168155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139"/>
                </a:lnSpc>
              </a:pPr>
              <a:endParaRPr/>
            </a:p>
          </p:txBody>
        </p:sp>
      </p:grpSp>
      <p:grpSp>
        <p:nvGrpSpPr>
          <p:cNvPr id="5" name="Group 5"/>
          <p:cNvGrpSpPr/>
          <p:nvPr/>
        </p:nvGrpSpPr>
        <p:grpSpPr>
          <a:xfrm rot="-5400000">
            <a:off x="3073377" y="-1002425"/>
            <a:ext cx="2004850" cy="20048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139"/>
                </a:lnSpc>
              </a:pPr>
              <a:endParaRPr/>
            </a:p>
          </p:txBody>
        </p:sp>
      </p:grpSp>
      <p:sp>
        <p:nvSpPr>
          <p:cNvPr id="8" name="Freeform 8"/>
          <p:cNvSpPr/>
          <p:nvPr/>
        </p:nvSpPr>
        <p:spPr>
          <a:xfrm>
            <a:off x="4863224" y="6560377"/>
            <a:ext cx="8027154" cy="2697923"/>
          </a:xfrm>
          <a:custGeom>
            <a:avLst/>
            <a:gdLst/>
            <a:ahLst/>
            <a:cxnLst/>
            <a:rect l="l" t="t" r="r" b="b"/>
            <a:pathLst>
              <a:path w="8027154" h="2697923">
                <a:moveTo>
                  <a:pt x="0" y="0"/>
                </a:moveTo>
                <a:lnTo>
                  <a:pt x="8027154" y="0"/>
                </a:lnTo>
                <a:lnTo>
                  <a:pt x="8027154" y="2697923"/>
                </a:lnTo>
                <a:lnTo>
                  <a:pt x="0" y="2697923"/>
                </a:lnTo>
                <a:lnTo>
                  <a:pt x="0" y="0"/>
                </a:lnTo>
                <a:close/>
              </a:path>
            </a:pathLst>
          </a:custGeom>
          <a:blipFill>
            <a:blip r:embed="rId2"/>
            <a:stretch>
              <a:fillRect/>
            </a:stretch>
          </a:blipFill>
        </p:spPr>
        <p:txBody>
          <a:bodyPr/>
          <a:lstStyle/>
          <a:p>
            <a:endParaRPr lang="tr-TR"/>
          </a:p>
        </p:txBody>
      </p:sp>
      <p:sp>
        <p:nvSpPr>
          <p:cNvPr id="9" name="TextBox 9"/>
          <p:cNvSpPr txBox="1"/>
          <p:nvPr/>
        </p:nvSpPr>
        <p:spPr>
          <a:xfrm>
            <a:off x="1028700" y="1461572"/>
            <a:ext cx="14173902" cy="122237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DQN (Deep Q-Network) </a:t>
            </a:r>
          </a:p>
        </p:txBody>
      </p:sp>
      <p:sp>
        <p:nvSpPr>
          <p:cNvPr id="10" name="TextBox 10"/>
          <p:cNvSpPr txBox="1"/>
          <p:nvPr/>
        </p:nvSpPr>
        <p:spPr>
          <a:xfrm>
            <a:off x="1088406" y="3217346"/>
            <a:ext cx="14719437" cy="2743835"/>
          </a:xfrm>
          <a:prstGeom prst="rect">
            <a:avLst/>
          </a:prstGeom>
        </p:spPr>
        <p:txBody>
          <a:bodyPr lIns="0" tIns="0" rIns="0" bIns="0" rtlCol="0" anchor="t">
            <a:spAutoFit/>
          </a:bodyPr>
          <a:lstStyle/>
          <a:p>
            <a:pPr algn="l">
              <a:lnSpc>
                <a:spcPts val="3639"/>
              </a:lnSpc>
              <a:spcBef>
                <a:spcPct val="0"/>
              </a:spcBef>
            </a:pPr>
            <a:r>
              <a:rPr lang="en-US" sz="2599">
                <a:solidFill>
                  <a:srgbClr val="000000"/>
                </a:solidFill>
                <a:latin typeface="Poppins"/>
                <a:ea typeface="Poppins"/>
                <a:cs typeface="Poppins"/>
                <a:sym typeface="Poppins"/>
              </a:rPr>
              <a:t>Geleneksel takviyeli öğrenme algoritmaları (Q-Learning), aracın karşılaşabileceği tüm durumları bir tabloya kaydeder. Ancak otonom sürüşte; kamera görüntüleri, şerit bilgileri ve engeller gibi milyonlarca farklı kombinasyon (durum uzayı) bulunur. Bu kadar devasa veriyi bir tabloda tutmak imkansızdır. DQN, bu problemi çözmek için tablo kullanmak yerine bir Yapay Sinir Ağı yerleştirir. Araç, durumları hafızada tutmaz; derin sinir ağını kullanarak hangi durumda hangi hareketi yapması gerektiğini tahmin etmeyi öğrenir.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47220" y="7308187"/>
            <a:ext cx="1681559" cy="168155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139"/>
                </a:lnSpc>
              </a:pPr>
              <a:endParaRPr/>
            </a:p>
          </p:txBody>
        </p:sp>
      </p:grpSp>
      <p:grpSp>
        <p:nvGrpSpPr>
          <p:cNvPr id="5" name="Group 5"/>
          <p:cNvGrpSpPr/>
          <p:nvPr/>
        </p:nvGrpSpPr>
        <p:grpSpPr>
          <a:xfrm rot="-5400000">
            <a:off x="3073377" y="-1002425"/>
            <a:ext cx="2004850" cy="20048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139"/>
                </a:lnSpc>
              </a:pPr>
              <a:endParaRPr/>
            </a:p>
          </p:txBody>
        </p:sp>
      </p:grpSp>
      <p:sp>
        <p:nvSpPr>
          <p:cNvPr id="8" name="TextBox 8"/>
          <p:cNvSpPr txBox="1"/>
          <p:nvPr/>
        </p:nvSpPr>
        <p:spPr>
          <a:xfrm>
            <a:off x="1028700" y="1516970"/>
            <a:ext cx="14173902" cy="122237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DQN  Nasıl Çalışır</a:t>
            </a:r>
          </a:p>
        </p:txBody>
      </p:sp>
      <p:sp>
        <p:nvSpPr>
          <p:cNvPr id="9" name="TextBox 9"/>
          <p:cNvSpPr txBox="1"/>
          <p:nvPr/>
        </p:nvSpPr>
        <p:spPr>
          <a:xfrm>
            <a:off x="754898" y="2891939"/>
            <a:ext cx="14738994" cy="6401435"/>
          </a:xfrm>
          <a:prstGeom prst="rect">
            <a:avLst/>
          </a:prstGeom>
        </p:spPr>
        <p:txBody>
          <a:bodyPr lIns="0" tIns="0" rIns="0" bIns="0" rtlCol="0" anchor="t">
            <a:spAutoFit/>
          </a:bodyPr>
          <a:lstStyle/>
          <a:p>
            <a:pPr algn="l">
              <a:lnSpc>
                <a:spcPts val="3639"/>
              </a:lnSpc>
              <a:spcBef>
                <a:spcPct val="0"/>
              </a:spcBef>
            </a:pPr>
            <a:r>
              <a:rPr lang="en-US" sz="2599">
                <a:solidFill>
                  <a:srgbClr val="000000"/>
                </a:solidFill>
                <a:latin typeface="Poppins"/>
                <a:ea typeface="Poppins"/>
                <a:cs typeface="Poppins"/>
                <a:sym typeface="Poppins"/>
              </a:rPr>
              <a:t>    Algoritma, web simülasyonu ortamında sürekli dönen 4 aşamalı bir döngüden oluşur:</a:t>
            </a:r>
          </a:p>
          <a:p>
            <a:pPr algn="l">
              <a:lnSpc>
                <a:spcPts val="3639"/>
              </a:lnSpc>
              <a:spcBef>
                <a:spcPct val="0"/>
              </a:spcBef>
            </a:pPr>
            <a:endParaRPr lang="en-US" sz="2599">
              <a:solidFill>
                <a:srgbClr val="000000"/>
              </a:solidFill>
              <a:latin typeface="Poppins"/>
              <a:ea typeface="Poppins"/>
              <a:cs typeface="Poppins"/>
              <a:sym typeface="Poppins"/>
            </a:endParaRPr>
          </a:p>
          <a:p>
            <a:pPr marL="561339" lvl="1" indent="-280669" algn="l">
              <a:lnSpc>
                <a:spcPts val="3639"/>
              </a:lnSpc>
              <a:spcBef>
                <a:spcPct val="0"/>
              </a:spcBef>
              <a:buAutoNum type="arabicPeriod"/>
            </a:pPr>
            <a:r>
              <a:rPr lang="en-US" sz="2599" b="1">
                <a:solidFill>
                  <a:srgbClr val="000000"/>
                </a:solidFill>
                <a:latin typeface="Poppins Bold"/>
                <a:ea typeface="Poppins Bold"/>
                <a:cs typeface="Poppins Bold"/>
                <a:sym typeface="Poppins Bold"/>
              </a:rPr>
              <a:t>Gözlem (State): </a:t>
            </a:r>
            <a:r>
              <a:rPr lang="en-US" sz="2599">
                <a:solidFill>
                  <a:srgbClr val="000000"/>
                </a:solidFill>
                <a:latin typeface="Poppins"/>
                <a:ea typeface="Poppins"/>
                <a:cs typeface="Poppins"/>
                <a:sym typeface="Poppins"/>
              </a:rPr>
              <a:t>Araç, web tarayıcısı üzerinde çalışan simülasyondan anlık verileri toplar (Örn: Sanal sensörlerin engellere uzaklığı, şerit çizgilerine olan mesafe ve hız).</a:t>
            </a:r>
          </a:p>
          <a:p>
            <a:pPr marL="561339" lvl="1" indent="-280669" algn="l">
              <a:lnSpc>
                <a:spcPts val="3639"/>
              </a:lnSpc>
              <a:spcBef>
                <a:spcPct val="0"/>
              </a:spcBef>
              <a:buAutoNum type="arabicPeriod"/>
            </a:pPr>
            <a:r>
              <a:rPr lang="en-US" sz="2599" b="1">
                <a:solidFill>
                  <a:srgbClr val="000000"/>
                </a:solidFill>
                <a:latin typeface="Poppins Bold"/>
                <a:ea typeface="Poppins Bold"/>
                <a:cs typeface="Poppins Bold"/>
                <a:sym typeface="Poppins Bold"/>
              </a:rPr>
              <a:t>Eylem Seçimi (Action): </a:t>
            </a:r>
            <a:r>
              <a:rPr lang="en-US" sz="2599">
                <a:solidFill>
                  <a:srgbClr val="000000"/>
                </a:solidFill>
                <a:latin typeface="Poppins"/>
                <a:ea typeface="Poppins"/>
                <a:cs typeface="Poppins"/>
                <a:sym typeface="Poppins"/>
              </a:rPr>
              <a:t>Sensör verileri yapay sinir ağına gönderilir. Ağ; Hızlan, Fren Yap, Sağa Dön, Sola Döneylemleri için başarı skorları (Q-değerleri) üretir. Araç en yüksek skora sahip hamleyi seçer.</a:t>
            </a:r>
          </a:p>
          <a:p>
            <a:pPr marL="561339" lvl="1" indent="-280669" algn="l">
              <a:lnSpc>
                <a:spcPts val="3639"/>
              </a:lnSpc>
              <a:spcBef>
                <a:spcPct val="0"/>
              </a:spcBef>
              <a:buAutoNum type="arabicPeriod"/>
            </a:pPr>
            <a:r>
              <a:rPr lang="en-US" sz="2599" b="1">
                <a:solidFill>
                  <a:srgbClr val="000000"/>
                </a:solidFill>
                <a:latin typeface="Poppins Bold"/>
                <a:ea typeface="Poppins Bold"/>
                <a:cs typeface="Poppins Bold"/>
                <a:sym typeface="Poppins Bold"/>
              </a:rPr>
              <a:t>Ödül Fonksiyonu (Reward):</a:t>
            </a:r>
            <a:r>
              <a:rPr lang="en-US" sz="2599">
                <a:solidFill>
                  <a:srgbClr val="000000"/>
                </a:solidFill>
                <a:latin typeface="Poppins"/>
                <a:ea typeface="Poppins"/>
                <a:cs typeface="Poppins"/>
                <a:sym typeface="Poppins"/>
              </a:rPr>
              <a:t> Seçilen hamle simülasyonda uygulanır. Araç şeritte düzgün ilerledikçe pozitif ödül (+), şeritten çıktıkça veya engellere çarptıkça negatif ceza (-) alır.</a:t>
            </a:r>
          </a:p>
          <a:p>
            <a:pPr marL="561339" lvl="1" indent="-280669" algn="l">
              <a:lnSpc>
                <a:spcPts val="3639"/>
              </a:lnSpc>
              <a:spcBef>
                <a:spcPct val="0"/>
              </a:spcBef>
              <a:buAutoNum type="arabicPeriod"/>
            </a:pPr>
            <a:r>
              <a:rPr lang="en-US" sz="2599" b="1">
                <a:solidFill>
                  <a:srgbClr val="000000"/>
                </a:solidFill>
                <a:latin typeface="Poppins Bold"/>
                <a:ea typeface="Poppins Bold"/>
                <a:cs typeface="Poppins Bold"/>
                <a:sym typeface="Poppins Bold"/>
              </a:rPr>
              <a:t>Deneyim Hafızası (Experience Replay): </a:t>
            </a:r>
            <a:r>
              <a:rPr lang="en-US" sz="2599">
                <a:solidFill>
                  <a:srgbClr val="000000"/>
                </a:solidFill>
                <a:latin typeface="Poppins"/>
                <a:ea typeface="Poppins"/>
                <a:cs typeface="Poppins"/>
                <a:sym typeface="Poppins"/>
              </a:rPr>
              <a:t>Araç, web üzerinde yaptığı her sürüşün deneyimini bir hafıza havuzunda saklar. Bu havuzdan rastgele seçilen verilerle sinir ağı sürekli optimize edilir ve araç geçmiş hatalarından ders çıkarır.</a:t>
            </a:r>
          </a:p>
          <a:p>
            <a:pPr algn="l">
              <a:lnSpc>
                <a:spcPts val="3639"/>
              </a:lnSpc>
              <a:spcBef>
                <a:spcPct val="0"/>
              </a:spcBef>
            </a:pPr>
            <a:endParaRPr lang="en-US" sz="2599">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4" name="Freeform 4"/>
          <p:cNvSpPr/>
          <p:nvPr/>
        </p:nvSpPr>
        <p:spPr>
          <a:xfrm>
            <a:off x="10880851" y="6378614"/>
            <a:ext cx="7407149" cy="3749869"/>
          </a:xfrm>
          <a:custGeom>
            <a:avLst/>
            <a:gdLst/>
            <a:ahLst/>
            <a:cxnLst/>
            <a:rect l="l" t="t" r="r" b="b"/>
            <a:pathLst>
              <a:path w="7407149" h="3749869">
                <a:moveTo>
                  <a:pt x="0" y="0"/>
                </a:moveTo>
                <a:lnTo>
                  <a:pt x="7407149" y="0"/>
                </a:lnTo>
                <a:lnTo>
                  <a:pt x="7407149" y="3749869"/>
                </a:lnTo>
                <a:lnTo>
                  <a:pt x="0" y="3749869"/>
                </a:lnTo>
                <a:lnTo>
                  <a:pt x="0" y="0"/>
                </a:lnTo>
                <a:close/>
              </a:path>
            </a:pathLst>
          </a:custGeom>
          <a:blipFill>
            <a:blip r:embed="rId3"/>
            <a:stretch>
              <a:fillRect/>
            </a:stretch>
          </a:blipFill>
        </p:spPr>
        <p:txBody>
          <a:bodyPr/>
          <a:lstStyle/>
          <a:p>
            <a:endParaRPr lang="tr-TR"/>
          </a:p>
        </p:txBody>
      </p:sp>
      <p:sp>
        <p:nvSpPr>
          <p:cNvPr id="5" name="TextBox 5"/>
          <p:cNvSpPr txBox="1"/>
          <p:nvPr/>
        </p:nvSpPr>
        <p:spPr>
          <a:xfrm>
            <a:off x="577531" y="937248"/>
            <a:ext cx="16390339"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PPO (Proximal Policy Optimization)</a:t>
            </a:r>
          </a:p>
        </p:txBody>
      </p:sp>
      <p:sp>
        <p:nvSpPr>
          <p:cNvPr id="6" name="TextBox 6"/>
          <p:cNvSpPr txBox="1"/>
          <p:nvPr/>
        </p:nvSpPr>
        <p:spPr>
          <a:xfrm>
            <a:off x="577531" y="3382973"/>
            <a:ext cx="12242853" cy="5487035"/>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Poppins"/>
                <a:ea typeface="Poppins"/>
                <a:cs typeface="Poppins"/>
                <a:sym typeface="Poppins"/>
              </a:rPr>
              <a:t>PPO, OpenAI tarafından 2017 yılında geliştirilen, yapay zekanın deneme-yanılma yoluyla karar almayı öğrendiği gelişmiş bir Takviyeli Öğrenme (Reinforcement Learning) algoritmasıdır.</a:t>
            </a:r>
          </a:p>
          <a:p>
            <a:pPr algn="l">
              <a:lnSpc>
                <a:spcPts val="3640"/>
              </a:lnSpc>
              <a:spcBef>
                <a:spcPct val="0"/>
              </a:spcBef>
            </a:pPr>
            <a:endParaRPr lang="en-US" sz="2600">
              <a:solidFill>
                <a:srgbClr val="000000"/>
              </a:solidFill>
              <a:latin typeface="Poppins"/>
              <a:ea typeface="Poppins"/>
              <a:cs typeface="Poppins"/>
              <a:sym typeface="Poppins"/>
            </a:endParaRPr>
          </a:p>
          <a:p>
            <a:pPr algn="l">
              <a:lnSpc>
                <a:spcPts val="3640"/>
              </a:lnSpc>
              <a:spcBef>
                <a:spcPct val="0"/>
              </a:spcBef>
            </a:pPr>
            <a:r>
              <a:rPr lang="en-US" sz="2600">
                <a:solidFill>
                  <a:srgbClr val="000000"/>
                </a:solidFill>
                <a:latin typeface="Poppins"/>
                <a:ea typeface="Poppins"/>
                <a:cs typeface="Poppins"/>
                <a:sym typeface="Poppins"/>
              </a:rPr>
              <a:t>Günümüzde yürüyen robotlardan ChatGPT'nin insanlarla doğru konuşmayı öğrenmesine (RLHF) kadar dünyadaki en popüler yapay zeka yönlendirme mekanizmalarından biridir.</a:t>
            </a:r>
          </a:p>
          <a:p>
            <a:pPr algn="l">
              <a:lnSpc>
                <a:spcPts val="3640"/>
              </a:lnSpc>
              <a:spcBef>
                <a:spcPct val="0"/>
              </a:spcBef>
            </a:pPr>
            <a:endParaRPr lang="en-US" sz="2600">
              <a:solidFill>
                <a:srgbClr val="000000"/>
              </a:solidFill>
              <a:latin typeface="Poppins"/>
              <a:ea typeface="Poppins"/>
              <a:cs typeface="Poppins"/>
              <a:sym typeface="Poppins"/>
            </a:endParaRPr>
          </a:p>
          <a:p>
            <a:pPr algn="l">
              <a:lnSpc>
                <a:spcPts val="3640"/>
              </a:lnSpc>
              <a:spcBef>
                <a:spcPct val="0"/>
              </a:spcBef>
            </a:pPr>
            <a:endParaRPr lang="en-US" sz="2600">
              <a:solidFill>
                <a:srgbClr val="000000"/>
              </a:solidFill>
              <a:latin typeface="Poppins"/>
              <a:ea typeface="Poppins"/>
              <a:cs typeface="Poppins"/>
              <a:sym typeface="Poppins"/>
            </a:endParaRPr>
          </a:p>
          <a:p>
            <a:pPr algn="l">
              <a:lnSpc>
                <a:spcPts val="3640"/>
              </a:lnSpc>
              <a:spcBef>
                <a:spcPct val="0"/>
              </a:spcBef>
            </a:pPr>
            <a:endParaRPr lang="en-US" sz="2600">
              <a:solidFill>
                <a:srgbClr val="000000"/>
              </a:solidFill>
              <a:latin typeface="Poppins"/>
              <a:ea typeface="Poppins"/>
              <a:cs typeface="Poppins"/>
              <a:sym typeface="Poppins"/>
            </a:endParaRPr>
          </a:p>
          <a:p>
            <a:pPr algn="l">
              <a:lnSpc>
                <a:spcPts val="3640"/>
              </a:lnSpc>
              <a:spcBef>
                <a:spcPct val="0"/>
              </a:spcBef>
            </a:pPr>
            <a:r>
              <a:rPr lang="en-US" sz="2600">
                <a:solidFill>
                  <a:srgbClr val="000000"/>
                </a:solidFill>
                <a:latin typeface="Poppins"/>
                <a:ea typeface="Poppins"/>
                <a:cs typeface="Poppins"/>
                <a:sym typeface="Poppins"/>
              </a:rPr>
              <a:t>Temel amacı; yapay zekanın veri toplama ve kendini</a:t>
            </a:r>
          </a:p>
          <a:p>
            <a:pPr algn="l">
              <a:lnSpc>
                <a:spcPts val="3640"/>
              </a:lnSpc>
              <a:spcBef>
                <a:spcPct val="0"/>
              </a:spcBef>
            </a:pPr>
            <a:r>
              <a:rPr lang="en-US" sz="2600">
                <a:solidFill>
                  <a:srgbClr val="000000"/>
                </a:solidFill>
                <a:latin typeface="Poppins"/>
                <a:ea typeface="Poppins"/>
                <a:cs typeface="Poppins"/>
                <a:sym typeface="Poppins"/>
              </a:rPr>
              <a:t> güncelleme sürecini en güvenli, en kararlı seviyede tutmaktır.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4" name="TextBox 4"/>
          <p:cNvSpPr txBox="1"/>
          <p:nvPr/>
        </p:nvSpPr>
        <p:spPr>
          <a:xfrm>
            <a:off x="731818" y="1055614"/>
            <a:ext cx="15119858"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Neden PPO’yu Seçtik ve Önemli Mekanizmalar</a:t>
            </a:r>
          </a:p>
        </p:txBody>
      </p:sp>
      <p:sp>
        <p:nvSpPr>
          <p:cNvPr id="5" name="TextBox 5"/>
          <p:cNvSpPr txBox="1"/>
          <p:nvPr/>
        </p:nvSpPr>
        <p:spPr>
          <a:xfrm>
            <a:off x="731818" y="3535680"/>
            <a:ext cx="16037756" cy="5722620"/>
          </a:xfrm>
          <a:prstGeom prst="rect">
            <a:avLst/>
          </a:prstGeom>
        </p:spPr>
        <p:txBody>
          <a:bodyPr lIns="0" tIns="0" rIns="0" bIns="0" rtlCol="0" anchor="t">
            <a:spAutoFit/>
          </a:bodyPr>
          <a:lstStyle/>
          <a:p>
            <a:pPr marL="582932" lvl="1" indent="-291466" algn="l">
              <a:lnSpc>
                <a:spcPts val="3780"/>
              </a:lnSpc>
              <a:spcBef>
                <a:spcPct val="0"/>
              </a:spcBef>
              <a:buFont typeface="Arial"/>
              <a:buChar char="•"/>
            </a:pPr>
            <a:r>
              <a:rPr lang="en-US" sz="2700">
                <a:solidFill>
                  <a:srgbClr val="000000"/>
                </a:solidFill>
                <a:latin typeface="Poppins"/>
                <a:ea typeface="Poppins"/>
                <a:cs typeface="Poppins"/>
                <a:sym typeface="Poppins"/>
              </a:rPr>
              <a:t>PPO algoritmasının kararlı ve pürüzsüz bir şekilde öğrenmesini sağlayan şey, arkasındaki matematiksel emniyet kemeri olan Kırpma (Clipping) mekanizmasıdır.</a:t>
            </a:r>
          </a:p>
          <a:p>
            <a:pPr marL="582932" lvl="1" indent="-291466" algn="l">
              <a:lnSpc>
                <a:spcPts val="3780"/>
              </a:lnSpc>
              <a:spcBef>
                <a:spcPct val="0"/>
              </a:spcBef>
              <a:buFont typeface="Arial"/>
              <a:buChar char="•"/>
            </a:pPr>
            <a:r>
              <a:rPr lang="en-US" sz="2700" b="1">
                <a:solidFill>
                  <a:srgbClr val="000000"/>
                </a:solidFill>
                <a:latin typeface="Poppins Bold"/>
                <a:ea typeface="Poppins Bold"/>
                <a:cs typeface="Poppins Bold"/>
                <a:sym typeface="Poppins Bold"/>
              </a:rPr>
              <a:t>Ani Değişimlerin Engellenmesi:</a:t>
            </a:r>
            <a:r>
              <a:rPr lang="en-US" sz="2700">
                <a:solidFill>
                  <a:srgbClr val="000000"/>
                </a:solidFill>
                <a:latin typeface="Poppins"/>
                <a:ea typeface="Poppins"/>
                <a:cs typeface="Poppins"/>
                <a:sym typeface="Poppins"/>
              </a:rPr>
              <a:t> Yapay zeka simülasyonda denemeler yaparken bazen ani ve çok radikal kararlar almak isteyebilir. PPO, yeni sürüş stratejisinin eski başarılı stratejiden en fazla %20 oranında sapmasına izin verir; daha büyük adımları otomatik olarak kırpar (sınırlandırır).</a:t>
            </a:r>
          </a:p>
          <a:p>
            <a:pPr marL="582932" lvl="1" indent="-291466" algn="l">
              <a:lnSpc>
                <a:spcPts val="3780"/>
              </a:lnSpc>
              <a:spcBef>
                <a:spcPct val="0"/>
              </a:spcBef>
              <a:buFont typeface="Arial"/>
              <a:buChar char="•"/>
            </a:pPr>
            <a:r>
              <a:rPr lang="en-US" sz="2700" b="1">
                <a:solidFill>
                  <a:srgbClr val="000000"/>
                </a:solidFill>
                <a:latin typeface="Poppins Bold"/>
                <a:ea typeface="Poppins Bold"/>
                <a:cs typeface="Poppins Bold"/>
                <a:sym typeface="Poppins Bold"/>
              </a:rPr>
              <a:t>Kazanılmış Yeteneklerin Korunması:</a:t>
            </a:r>
            <a:r>
              <a:rPr lang="en-US" sz="2700">
                <a:solidFill>
                  <a:srgbClr val="000000"/>
                </a:solidFill>
                <a:latin typeface="Poppins"/>
                <a:ea typeface="Poppins"/>
                <a:cs typeface="Poppins"/>
                <a:sym typeface="Poppins"/>
              </a:rPr>
              <a:t> Bu sınırlama sayesinde yapay zeka, o ana kadar öğrendiği iyi sürüş alışkanlıklarını (şeritte kalma, virajı dönme vb.) tek bir hatalı adımla aniden unutmaz.</a:t>
            </a:r>
          </a:p>
          <a:p>
            <a:pPr marL="582932" lvl="1" indent="-291466" algn="l">
              <a:lnSpc>
                <a:spcPts val="3780"/>
              </a:lnSpc>
              <a:spcBef>
                <a:spcPct val="0"/>
              </a:spcBef>
              <a:buFont typeface="Arial"/>
              <a:buChar char="•"/>
            </a:pPr>
            <a:r>
              <a:rPr lang="en-US" sz="2700" b="1">
                <a:solidFill>
                  <a:srgbClr val="000000"/>
                </a:solidFill>
                <a:latin typeface="Poppins Bold"/>
                <a:ea typeface="Poppins Bold"/>
                <a:cs typeface="Poppins Bold"/>
                <a:sym typeface="Poppins Bold"/>
              </a:rPr>
              <a:t>Sonuç:</a:t>
            </a:r>
            <a:r>
              <a:rPr lang="en-US" sz="2700">
                <a:solidFill>
                  <a:srgbClr val="000000"/>
                </a:solidFill>
                <a:latin typeface="Poppins"/>
                <a:ea typeface="Poppins"/>
                <a:cs typeface="Poppins"/>
                <a:sym typeface="Poppins"/>
              </a:rPr>
              <a:t> Eğitim süreci büyük dalgalanmalar veya ani çöküşler yaşamadan, her adımda mevcut sürüş yeteneğinin üzerine koyarak kararlı ve güvenli bir şekilde başarıya ulaşır.</a:t>
            </a:r>
          </a:p>
          <a:p>
            <a:pPr algn="l">
              <a:lnSpc>
                <a:spcPts val="3780"/>
              </a:lnSpc>
              <a:spcBef>
                <a:spcPct val="0"/>
              </a:spcBef>
            </a:pPr>
            <a:endParaRPr lang="en-US" sz="2700">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66153" y="843611"/>
            <a:ext cx="18113076" cy="2332370"/>
          </a:xfrm>
          <a:prstGeom prst="rect">
            <a:avLst/>
          </a:prstGeom>
        </p:spPr>
        <p:txBody>
          <a:bodyPr wrap="square" lIns="0" tIns="0" rIns="0" bIns="0" rtlCol="0" anchor="t">
            <a:spAutoFit/>
          </a:bodyPr>
          <a:lstStyle/>
          <a:p>
            <a:pPr marL="0" lvl="0" indent="0" algn="l">
              <a:lnSpc>
                <a:spcPts val="8899"/>
              </a:lnSpc>
              <a:spcBef>
                <a:spcPct val="0"/>
              </a:spcBef>
            </a:pPr>
            <a:r>
              <a:rPr lang="en-US" sz="9999" i="1" u="none" strike="noStrike" spc="-299" dirty="0" err="1">
                <a:solidFill>
                  <a:srgbClr val="311581"/>
                </a:solidFill>
                <a:latin typeface="Libre Baskerville Italics"/>
                <a:ea typeface="Libre Baskerville Italics"/>
                <a:cs typeface="Libre Baskerville Italics"/>
                <a:sym typeface="Libre Baskerville Italics"/>
              </a:rPr>
              <a:t>Senkron</a:t>
            </a:r>
            <a:r>
              <a:rPr lang="en-US" sz="9999" i="1" u="none" strike="noStrike" spc="-299" dirty="0">
                <a:solidFill>
                  <a:srgbClr val="311581"/>
                </a:solidFill>
                <a:latin typeface="Libre Baskerville Italics"/>
                <a:ea typeface="Libre Baskerville Italics"/>
                <a:cs typeface="Libre Baskerville Italics"/>
                <a:sym typeface="Libre Baskerville Italics"/>
              </a:rPr>
              <a:t> A2C </a:t>
            </a:r>
            <a:endParaRPr lang="tr-TR" sz="9999" i="1" u="none" strike="noStrike" spc="-299" dirty="0">
              <a:solidFill>
                <a:srgbClr val="311581"/>
              </a:solidFill>
              <a:latin typeface="Libre Baskerville Italics"/>
              <a:ea typeface="Libre Baskerville Italics"/>
              <a:cs typeface="Libre Baskerville Italics"/>
              <a:sym typeface="Libre Baskerville Italics"/>
            </a:endParaRPr>
          </a:p>
          <a:p>
            <a:pPr marL="0" lvl="0" indent="0" algn="l">
              <a:lnSpc>
                <a:spcPts val="8899"/>
              </a:lnSpc>
              <a:spcBef>
                <a:spcPct val="0"/>
              </a:spcBef>
            </a:pPr>
            <a:r>
              <a:rPr lang="en-US" sz="9999" i="1" u="none" strike="noStrike" spc="-299" dirty="0">
                <a:solidFill>
                  <a:srgbClr val="311581"/>
                </a:solidFill>
                <a:latin typeface="Libre Baskerville Italics"/>
                <a:ea typeface="Libre Baskerville Italics"/>
                <a:cs typeface="Libre Baskerville Italics"/>
                <a:sym typeface="Libre Baskerville Italics"/>
              </a:rPr>
              <a:t>(</a:t>
            </a:r>
            <a:r>
              <a:rPr lang="en-US" sz="9999" i="1" u="none" strike="noStrike" spc="-299" dirty="0" err="1">
                <a:solidFill>
                  <a:srgbClr val="311581"/>
                </a:solidFill>
                <a:latin typeface="Libre Baskerville Italics"/>
                <a:ea typeface="Libre Baskerville Italics"/>
                <a:cs typeface="Libre Baskerville Italics"/>
                <a:sym typeface="Libre Baskerville Italics"/>
              </a:rPr>
              <a:t>Aktör-Eleştirmen</a:t>
            </a:r>
            <a:r>
              <a:rPr lang="en-US" sz="9999" i="1" u="none" strike="noStrike" spc="-299" dirty="0">
                <a:solidFill>
                  <a:srgbClr val="311581"/>
                </a:solidFill>
                <a:latin typeface="Libre Baskerville Italics"/>
                <a:ea typeface="Libre Baskerville Italics"/>
                <a:cs typeface="Libre Baskerville Italics"/>
                <a:sym typeface="Libre Baskerville Italics"/>
              </a:rPr>
              <a:t>)</a:t>
            </a:r>
          </a:p>
        </p:txBody>
      </p:sp>
      <p:grpSp>
        <p:nvGrpSpPr>
          <p:cNvPr id="3" name="Group 3"/>
          <p:cNvGrpSpPr/>
          <p:nvPr/>
        </p:nvGrpSpPr>
        <p:grpSpPr>
          <a:xfrm rot="5400000">
            <a:off x="175565" y="9061724"/>
            <a:ext cx="1981177" cy="198117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5400000">
            <a:off x="1590160" y="9276759"/>
            <a:ext cx="1553095" cy="155309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Freeform 15"/>
          <p:cNvSpPr/>
          <p:nvPr/>
        </p:nvSpPr>
        <p:spPr>
          <a:xfrm>
            <a:off x="4800650" y="5364065"/>
            <a:ext cx="7502787" cy="4689242"/>
          </a:xfrm>
          <a:custGeom>
            <a:avLst/>
            <a:gdLst/>
            <a:ahLst/>
            <a:cxnLst/>
            <a:rect l="l" t="t" r="r" b="b"/>
            <a:pathLst>
              <a:path w="7502787" h="4689242">
                <a:moveTo>
                  <a:pt x="0" y="0"/>
                </a:moveTo>
                <a:lnTo>
                  <a:pt x="7502786" y="0"/>
                </a:lnTo>
                <a:lnTo>
                  <a:pt x="7502786" y="4689241"/>
                </a:lnTo>
                <a:lnTo>
                  <a:pt x="0" y="4689241"/>
                </a:lnTo>
                <a:lnTo>
                  <a:pt x="0" y="0"/>
                </a:lnTo>
                <a:close/>
              </a:path>
            </a:pathLst>
          </a:custGeom>
          <a:blipFill>
            <a:blip r:embed="rId2"/>
            <a:stretch>
              <a:fillRect/>
            </a:stretch>
          </a:blipFill>
        </p:spPr>
        <p:txBody>
          <a:bodyPr/>
          <a:lstStyle/>
          <a:p>
            <a:endParaRPr lang="tr-TR"/>
          </a:p>
        </p:txBody>
      </p:sp>
      <p:sp>
        <p:nvSpPr>
          <p:cNvPr id="16" name="TextBox 16"/>
          <p:cNvSpPr txBox="1"/>
          <p:nvPr/>
        </p:nvSpPr>
        <p:spPr>
          <a:xfrm>
            <a:off x="882863" y="3389028"/>
            <a:ext cx="16606719" cy="1829435"/>
          </a:xfrm>
          <a:prstGeom prst="rect">
            <a:avLst/>
          </a:prstGeom>
        </p:spPr>
        <p:txBody>
          <a:bodyPr lIns="0" tIns="0" rIns="0" bIns="0" rtlCol="0" anchor="t">
            <a:spAutoFit/>
          </a:bodyPr>
          <a:lstStyle/>
          <a:p>
            <a:pPr marL="0" lvl="0" indent="0" algn="l">
              <a:lnSpc>
                <a:spcPts val="3640"/>
              </a:lnSpc>
              <a:spcBef>
                <a:spcPct val="0"/>
              </a:spcBef>
            </a:pPr>
            <a:r>
              <a:rPr lang="en-US" sz="2600" u="none" strike="noStrike" dirty="0">
                <a:solidFill>
                  <a:srgbClr val="000000"/>
                </a:solidFill>
                <a:latin typeface="Poppins"/>
                <a:ea typeface="Poppins"/>
                <a:cs typeface="Poppins"/>
                <a:sym typeface="Poppins"/>
              </a:rPr>
              <a:t>A2C (Advantage Actor-Critic), </a:t>
            </a:r>
            <a:r>
              <a:rPr lang="en-US" sz="2600" u="none" strike="noStrike" dirty="0" err="1">
                <a:solidFill>
                  <a:srgbClr val="000000"/>
                </a:solidFill>
                <a:latin typeface="Poppins"/>
                <a:ea typeface="Poppins"/>
                <a:cs typeface="Poppins"/>
                <a:sym typeface="Poppins"/>
              </a:rPr>
              <a:t>tek</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bir</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sinir</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ağı</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üzerinde</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iki</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farklı</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görevi</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eş</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zamanlı</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yürüten</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bir</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aktör-eleştirmen</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mimarisine</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dayanmaktadır</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Ağın</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aktör</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başlığı</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ajanın</a:t>
            </a:r>
            <a:r>
              <a:rPr lang="en-US" sz="2600" u="none" strike="noStrike" dirty="0">
                <a:solidFill>
                  <a:srgbClr val="000000"/>
                </a:solidFill>
                <a:latin typeface="Poppins"/>
                <a:ea typeface="Poppins"/>
                <a:cs typeface="Poppins"/>
                <a:sym typeface="Poppins"/>
              </a:rPr>
              <a:t> hangi </a:t>
            </a:r>
            <a:r>
              <a:rPr lang="en-US" sz="2600" u="none" strike="noStrike" dirty="0" err="1">
                <a:solidFill>
                  <a:srgbClr val="000000"/>
                </a:solidFill>
                <a:latin typeface="Poppins"/>
                <a:ea typeface="Poppins"/>
                <a:cs typeface="Poppins"/>
                <a:sym typeface="Poppins"/>
              </a:rPr>
              <a:t>aksiyonu</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seçeceğini</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belirleyen</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politikayı</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üretirken</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eleştirmen</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başlığı</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mevcut</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durumun</a:t>
            </a:r>
            <a:r>
              <a:rPr lang="en-US" sz="2600" u="none" strike="noStrike" dirty="0">
                <a:solidFill>
                  <a:srgbClr val="000000"/>
                </a:solidFill>
                <a:latin typeface="Poppins"/>
                <a:ea typeface="Poppins"/>
                <a:cs typeface="Poppins"/>
                <a:sym typeface="Poppins"/>
              </a:rPr>
              <a:t> ne </a:t>
            </a:r>
            <a:r>
              <a:rPr lang="en-US" sz="2600" u="none" strike="noStrike" dirty="0" err="1">
                <a:solidFill>
                  <a:srgbClr val="000000"/>
                </a:solidFill>
                <a:latin typeface="Poppins"/>
                <a:ea typeface="Poppins"/>
                <a:cs typeface="Poppins"/>
                <a:sym typeface="Poppins"/>
              </a:rPr>
              <a:t>kadar</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değerli</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olduğunu</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tahmin</a:t>
            </a:r>
            <a:r>
              <a:rPr lang="en-US" sz="2600" u="none" strike="noStrike" dirty="0">
                <a:solidFill>
                  <a:srgbClr val="000000"/>
                </a:solidFill>
                <a:latin typeface="Poppins"/>
                <a:ea typeface="Poppins"/>
                <a:cs typeface="Poppins"/>
                <a:sym typeface="Poppins"/>
              </a:rPr>
              <a:t> </a:t>
            </a:r>
            <a:r>
              <a:rPr lang="en-US" sz="2600" u="none" strike="noStrike" dirty="0" err="1">
                <a:solidFill>
                  <a:srgbClr val="000000"/>
                </a:solidFill>
                <a:latin typeface="Poppins"/>
                <a:ea typeface="Poppins"/>
                <a:cs typeface="Poppins"/>
                <a:sym typeface="Poppins"/>
              </a:rPr>
              <a:t>etmektedir</a:t>
            </a:r>
            <a:r>
              <a:rPr lang="en-US" sz="2600" u="none" strike="noStrike" dirty="0">
                <a:solidFill>
                  <a:srgbClr val="000000"/>
                </a:solidFill>
                <a:latin typeface="Poppins"/>
                <a:ea typeface="Poppins"/>
                <a:cs typeface="Poppins"/>
                <a:sym typeface="Poppins"/>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4435" y="1323975"/>
            <a:ext cx="16504865"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Senkron A2C (Aktör-Eleştirmen) Nasıl Çalışır ?</a:t>
            </a:r>
          </a:p>
        </p:txBody>
      </p:sp>
      <p:grpSp>
        <p:nvGrpSpPr>
          <p:cNvPr id="3" name="Group 3"/>
          <p:cNvGrpSpPr/>
          <p:nvPr/>
        </p:nvGrpSpPr>
        <p:grpSpPr>
          <a:xfrm rot="5400000">
            <a:off x="4688321" y="9296411"/>
            <a:ext cx="1981177" cy="198117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5400000">
            <a:off x="1873451" y="-990589"/>
            <a:ext cx="1981177" cy="198117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5400000">
            <a:off x="6102916" y="9511446"/>
            <a:ext cx="1553095" cy="155309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rot="5400000">
            <a:off x="882863" y="-775554"/>
            <a:ext cx="1553095" cy="155309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TextBox 15"/>
          <p:cNvSpPr txBox="1"/>
          <p:nvPr/>
        </p:nvSpPr>
        <p:spPr>
          <a:xfrm>
            <a:off x="1028700" y="4402707"/>
            <a:ext cx="14723885" cy="5260975"/>
          </a:xfrm>
          <a:prstGeom prst="rect">
            <a:avLst/>
          </a:prstGeom>
        </p:spPr>
        <p:txBody>
          <a:bodyPr lIns="0" tIns="0" rIns="0" bIns="0" rtlCol="0" anchor="t">
            <a:spAutoFit/>
          </a:bodyPr>
          <a:lstStyle/>
          <a:p>
            <a:pPr algn="l">
              <a:lnSpc>
                <a:spcPts val="3499"/>
              </a:lnSpc>
              <a:spcBef>
                <a:spcPct val="0"/>
              </a:spcBef>
            </a:pPr>
            <a:r>
              <a:rPr lang="en-US" sz="2499" b="1">
                <a:solidFill>
                  <a:srgbClr val="000000"/>
                </a:solidFill>
                <a:latin typeface="Poppins Bold"/>
                <a:ea typeface="Poppins Bold"/>
                <a:cs typeface="Poppins Bold"/>
                <a:sym typeface="Poppins Bold"/>
              </a:rPr>
              <a:t>1. Aktör (Actor) — Karar Mekanizması</a:t>
            </a:r>
          </a:p>
          <a:p>
            <a:pPr algn="l">
              <a:lnSpc>
                <a:spcPts val="3499"/>
              </a:lnSpc>
              <a:spcBef>
                <a:spcPct val="0"/>
              </a:spcBef>
            </a:pPr>
            <a:r>
              <a:rPr lang="en-US" sz="2499">
                <a:solidFill>
                  <a:srgbClr val="000000"/>
                </a:solidFill>
                <a:latin typeface="Poppins"/>
                <a:ea typeface="Poppins"/>
                <a:cs typeface="Poppins"/>
                <a:sym typeface="Poppins"/>
              </a:rPr>
              <a:t>Direksiyondaki sürücüdür. Simülasyondaki duruma (State) bakar ve bir eylem (Action) seçer. (Örn: "Önümde engel var, sola dönmeliyim.")</a:t>
            </a:r>
          </a:p>
          <a:p>
            <a:pPr algn="l">
              <a:lnSpc>
                <a:spcPts val="3499"/>
              </a:lnSpc>
              <a:spcBef>
                <a:spcPct val="0"/>
              </a:spcBef>
            </a:pPr>
            <a:r>
              <a:rPr lang="en-US" sz="2499" b="1">
                <a:solidFill>
                  <a:srgbClr val="000000"/>
                </a:solidFill>
                <a:latin typeface="Poppins Bold"/>
                <a:ea typeface="Poppins Bold"/>
                <a:cs typeface="Poppins Bold"/>
                <a:sym typeface="Poppins Bold"/>
              </a:rPr>
              <a:t>2. Eleştirmen (Critic) — Değerlendirme Mekanizması</a:t>
            </a:r>
          </a:p>
          <a:p>
            <a:pPr algn="l">
              <a:lnSpc>
                <a:spcPts val="3499"/>
              </a:lnSpc>
              <a:spcBef>
                <a:spcPct val="0"/>
              </a:spcBef>
            </a:pPr>
            <a:r>
              <a:rPr lang="en-US" sz="2499">
                <a:solidFill>
                  <a:srgbClr val="000000"/>
                </a:solidFill>
                <a:latin typeface="Poppins"/>
                <a:ea typeface="Poppins"/>
                <a:cs typeface="Poppins"/>
                <a:sym typeface="Poppins"/>
              </a:rPr>
              <a:t>Yan koltuktaki sürücü kursu öğretmenidir. Aktörün yaptığı hamleyi inceler ve çevreye bakarak bu hamlenin gelecekte ne kadar ödül (Reward) getireceğini tahmin eder.</a:t>
            </a:r>
          </a:p>
          <a:p>
            <a:pPr algn="l">
              <a:lnSpc>
                <a:spcPts val="3499"/>
              </a:lnSpc>
              <a:spcBef>
                <a:spcPct val="0"/>
              </a:spcBef>
            </a:pPr>
            <a:r>
              <a:rPr lang="en-US" sz="2499" b="1">
                <a:solidFill>
                  <a:srgbClr val="000000"/>
                </a:solidFill>
                <a:latin typeface="Poppins Bold"/>
                <a:ea typeface="Poppins Bold"/>
                <a:cs typeface="Poppins Bold"/>
                <a:sym typeface="Poppins Bold"/>
              </a:rPr>
              <a:t>3. Avantaj (Advantage) — Gelişme Ölçütü</a:t>
            </a:r>
          </a:p>
          <a:p>
            <a:pPr algn="l">
              <a:lnSpc>
                <a:spcPts val="3499"/>
              </a:lnSpc>
              <a:spcBef>
                <a:spcPct val="0"/>
              </a:spcBef>
            </a:pPr>
            <a:r>
              <a:rPr lang="en-US" sz="2499">
                <a:solidFill>
                  <a:srgbClr val="000000"/>
                </a:solidFill>
                <a:latin typeface="Poppins"/>
                <a:ea typeface="Poppins"/>
                <a:cs typeface="Poppins"/>
                <a:sym typeface="Poppins"/>
              </a:rPr>
              <a:t>A2C’yi özel kılan matematiksel değerdir. Eleştirmen, aktörün yaptığı hamleyi değerlendirirken şu soruyu sorar: "Bu hamle, bizim beklentimizden daha mı iyi sonuç verdi, yoksa daha mı kötü?" * Eğer hamle beklenenden iyiyse Avantaj (A) pozitiftir ve Aktör o hareketi daha sık yapmak üzere kendini günceller.</a:t>
            </a:r>
          </a:p>
          <a:p>
            <a:pPr algn="l">
              <a:lnSpc>
                <a:spcPts val="3499"/>
              </a:lnSpc>
              <a:spcBef>
                <a:spcPct val="0"/>
              </a:spcBef>
            </a:pPr>
            <a:endParaRPr lang="en-US" sz="2499">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065430" y="904919"/>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959630" y="7678446"/>
            <a:ext cx="1916807" cy="191680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rot="-10800000">
            <a:off x="17328370" y="2650792"/>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1" name="Freeform 11"/>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12" name="TextBox 12"/>
          <p:cNvSpPr txBox="1"/>
          <p:nvPr/>
        </p:nvSpPr>
        <p:spPr>
          <a:xfrm>
            <a:off x="411296" y="448610"/>
            <a:ext cx="11825615"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SAC (Soft Actor Critic)</a:t>
            </a:r>
          </a:p>
        </p:txBody>
      </p:sp>
      <p:sp>
        <p:nvSpPr>
          <p:cNvPr id="13" name="TextBox 13"/>
          <p:cNvSpPr txBox="1"/>
          <p:nvPr/>
        </p:nvSpPr>
        <p:spPr>
          <a:xfrm>
            <a:off x="411296" y="2279418"/>
            <a:ext cx="11719740" cy="7315835"/>
          </a:xfrm>
          <a:prstGeom prst="rect">
            <a:avLst/>
          </a:prstGeom>
        </p:spPr>
        <p:txBody>
          <a:bodyPr lIns="0" tIns="0" rIns="0" bIns="0" rtlCol="0" anchor="t">
            <a:spAutoFit/>
          </a:bodyPr>
          <a:lstStyle/>
          <a:p>
            <a:pPr algn="l">
              <a:lnSpc>
                <a:spcPts val="3640"/>
              </a:lnSpc>
              <a:spcBef>
                <a:spcPct val="0"/>
              </a:spcBef>
            </a:pPr>
            <a:endParaRPr/>
          </a:p>
          <a:p>
            <a:pPr algn="l">
              <a:lnSpc>
                <a:spcPts val="3640"/>
              </a:lnSpc>
              <a:spcBef>
                <a:spcPct val="0"/>
              </a:spcBef>
            </a:pPr>
            <a:r>
              <a:rPr lang="en-US" sz="2600">
                <a:solidFill>
                  <a:srgbClr val="000000"/>
                </a:solidFill>
                <a:latin typeface="Poppins"/>
                <a:ea typeface="Poppins"/>
                <a:cs typeface="Poppins"/>
                <a:sym typeface="Poppins"/>
              </a:rPr>
              <a:t>SAC (Soft Actor-Critic), 2018 yılında UC Berkeley araştırmacıları tarafından geliştirilen, yapay zekanın deneme-yanılma yoluyla karar almayı öğrendiği oldukça esnek ve verimli bir Takviyeli Öğrenme algoritmasıdır.</a:t>
            </a:r>
          </a:p>
          <a:p>
            <a:pPr algn="l">
              <a:lnSpc>
                <a:spcPts val="3640"/>
              </a:lnSpc>
              <a:spcBef>
                <a:spcPct val="0"/>
              </a:spcBef>
            </a:pPr>
            <a:endParaRPr lang="en-US" sz="2600">
              <a:solidFill>
                <a:srgbClr val="000000"/>
              </a:solidFill>
              <a:latin typeface="Poppins"/>
              <a:ea typeface="Poppins"/>
              <a:cs typeface="Poppins"/>
              <a:sym typeface="Poppins"/>
            </a:endParaRPr>
          </a:p>
          <a:p>
            <a:pPr algn="l">
              <a:lnSpc>
                <a:spcPts val="3640"/>
              </a:lnSpc>
              <a:spcBef>
                <a:spcPct val="0"/>
              </a:spcBef>
            </a:pPr>
            <a:r>
              <a:rPr lang="en-US" sz="2600">
                <a:solidFill>
                  <a:srgbClr val="000000"/>
                </a:solidFill>
                <a:latin typeface="Poppins"/>
                <a:ea typeface="Poppins"/>
                <a:cs typeface="Poppins"/>
                <a:sym typeface="Poppins"/>
              </a:rPr>
              <a:t>Günümüzde karmaşık otonom sürüş sistemlerinden gerçek dünyadaki robot kollarının hassas nesne tutma hareketlerini öğrenmesine kadar, özellikle çok fazla deneme yapmanın zor veya maliyetli olduğu robotik sistemlerde dünyadaki en popüler yönlendirme mekanizmalarından biridir.</a:t>
            </a:r>
          </a:p>
          <a:p>
            <a:pPr algn="l">
              <a:lnSpc>
                <a:spcPts val="3640"/>
              </a:lnSpc>
              <a:spcBef>
                <a:spcPct val="0"/>
              </a:spcBef>
            </a:pPr>
            <a:endParaRPr lang="en-US" sz="2600">
              <a:solidFill>
                <a:srgbClr val="000000"/>
              </a:solidFill>
              <a:latin typeface="Poppins"/>
              <a:ea typeface="Poppins"/>
              <a:cs typeface="Poppins"/>
              <a:sym typeface="Poppins"/>
            </a:endParaRPr>
          </a:p>
          <a:p>
            <a:pPr algn="l">
              <a:lnSpc>
                <a:spcPts val="3640"/>
              </a:lnSpc>
              <a:spcBef>
                <a:spcPct val="0"/>
              </a:spcBef>
            </a:pPr>
            <a:r>
              <a:rPr lang="en-US" sz="2600">
                <a:solidFill>
                  <a:srgbClr val="000000"/>
                </a:solidFill>
                <a:latin typeface="Poppins"/>
                <a:ea typeface="Poppins"/>
                <a:cs typeface="Poppins"/>
                <a:sym typeface="Poppins"/>
              </a:rPr>
              <a:t>Temel amacı; yapay zekanın sadece yüksek ödüle odaklanıp aynı hareketleri ezberlemesini engellemek ve "entropi" adı verilen bir yaratıcılık/rastgelelik payı ekleyerek sürekli yeni yollar keşfetmesini ve daha az veriyle en başarılı davranışları bulmasını sağlamaktır.</a:t>
            </a:r>
          </a:p>
        </p:txBody>
      </p:sp>
      <p:sp>
        <p:nvSpPr>
          <p:cNvPr id="14" name="Freeform 14"/>
          <p:cNvSpPr/>
          <p:nvPr/>
        </p:nvSpPr>
        <p:spPr>
          <a:xfrm>
            <a:off x="11974551" y="6161566"/>
            <a:ext cx="6430166" cy="3215083"/>
          </a:xfrm>
          <a:custGeom>
            <a:avLst/>
            <a:gdLst/>
            <a:ahLst/>
            <a:cxnLst/>
            <a:rect l="l" t="t" r="r" b="b"/>
            <a:pathLst>
              <a:path w="6430166" h="3215083">
                <a:moveTo>
                  <a:pt x="0" y="0"/>
                </a:moveTo>
                <a:lnTo>
                  <a:pt x="6430166" y="0"/>
                </a:lnTo>
                <a:lnTo>
                  <a:pt x="6430166" y="3215083"/>
                </a:lnTo>
                <a:lnTo>
                  <a:pt x="0" y="3215083"/>
                </a:lnTo>
                <a:lnTo>
                  <a:pt x="0" y="0"/>
                </a:lnTo>
                <a:close/>
              </a:path>
            </a:pathLst>
          </a:custGeom>
          <a:blipFill>
            <a:blip r:embed="rId3"/>
            <a:stretch>
              <a:fillRect/>
            </a:stretch>
          </a:blipFill>
        </p:spPr>
        <p:txBody>
          <a:bodyPr/>
          <a:lstStyle/>
          <a:p>
            <a:endParaRPr lang="tr-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065430" y="904919"/>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rot="-10800000">
            <a:off x="17328370" y="2650792"/>
            <a:ext cx="1916807" cy="191680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8" name="Freeform 8"/>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9" name="TextBox 9"/>
          <p:cNvSpPr txBox="1"/>
          <p:nvPr/>
        </p:nvSpPr>
        <p:spPr>
          <a:xfrm>
            <a:off x="862063" y="416312"/>
            <a:ext cx="15088638" cy="234632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SAC (Soft Actor Critic) Nasıl Çalışır?</a:t>
            </a:r>
          </a:p>
        </p:txBody>
      </p:sp>
      <p:sp>
        <p:nvSpPr>
          <p:cNvPr id="10" name="TextBox 10"/>
          <p:cNvSpPr txBox="1"/>
          <p:nvPr/>
        </p:nvSpPr>
        <p:spPr>
          <a:xfrm>
            <a:off x="464234" y="2937431"/>
            <a:ext cx="16601196" cy="7023100"/>
          </a:xfrm>
          <a:prstGeom prst="rect">
            <a:avLst/>
          </a:prstGeom>
        </p:spPr>
        <p:txBody>
          <a:bodyPr lIns="0" tIns="0" rIns="0" bIns="0" rtlCol="0" anchor="t">
            <a:spAutoFit/>
          </a:bodyPr>
          <a:lstStyle/>
          <a:p>
            <a:pPr algn="l">
              <a:lnSpc>
                <a:spcPts val="3500"/>
              </a:lnSpc>
              <a:spcBef>
                <a:spcPct val="0"/>
              </a:spcBef>
            </a:pPr>
            <a:r>
              <a:rPr lang="en-US" sz="2500" b="1">
                <a:solidFill>
                  <a:srgbClr val="000000"/>
                </a:solidFill>
                <a:latin typeface="Poppins Bold"/>
                <a:ea typeface="Poppins Bold"/>
                <a:cs typeface="Poppins Bold"/>
                <a:sym typeface="Poppins Bold"/>
              </a:rPr>
              <a:t>1. Aktör (Actor)</a:t>
            </a:r>
            <a:r>
              <a:rPr lang="en-US" sz="2500">
                <a:solidFill>
                  <a:srgbClr val="000000"/>
                </a:solidFill>
                <a:latin typeface="Poppins"/>
                <a:ea typeface="Poppins"/>
                <a:cs typeface="Poppins"/>
                <a:sym typeface="Poppins"/>
              </a:rPr>
              <a:t> - Yaratıcı Sürücü Direksiyondaki sürücüdür. Çevresel duruma (State) bakar ve bir eylem (Action) seçer. Ancak geleneksel sürücülerden farklı olarak katı kurallara bağlı kalmaz; her zaman bildiği en garanti yolu seçmek yerine duruma göre farklı ve esnek manevralar yapmaya (stokastik davranmaya) eğilimlidir.</a:t>
            </a:r>
          </a:p>
          <a:p>
            <a:pPr algn="l">
              <a:lnSpc>
                <a:spcPts val="3500"/>
              </a:lnSpc>
              <a:spcBef>
                <a:spcPct val="0"/>
              </a:spcBef>
            </a:pPr>
            <a:endParaRPr lang="en-US" sz="2500">
              <a:solidFill>
                <a:srgbClr val="000000"/>
              </a:solidFill>
              <a:latin typeface="Poppins"/>
              <a:ea typeface="Poppins"/>
              <a:cs typeface="Poppins"/>
              <a:sym typeface="Poppins"/>
            </a:endParaRPr>
          </a:p>
          <a:p>
            <a:pPr algn="l">
              <a:lnSpc>
                <a:spcPts val="3500"/>
              </a:lnSpc>
              <a:spcBef>
                <a:spcPct val="0"/>
              </a:spcBef>
            </a:pPr>
            <a:r>
              <a:rPr lang="en-US" sz="2500" b="1">
                <a:solidFill>
                  <a:srgbClr val="000000"/>
                </a:solidFill>
                <a:latin typeface="Poppins Bold"/>
                <a:ea typeface="Poppins Bold"/>
                <a:cs typeface="Poppins Bold"/>
                <a:sym typeface="Poppins Bold"/>
              </a:rPr>
              <a:t>2. İkiz Eleştirmen (Twin Critic)</a:t>
            </a:r>
            <a:r>
              <a:rPr lang="en-US" sz="2500">
                <a:solidFill>
                  <a:srgbClr val="000000"/>
                </a:solidFill>
                <a:latin typeface="Poppins"/>
                <a:ea typeface="Poppins"/>
                <a:cs typeface="Poppins"/>
                <a:sym typeface="Poppins"/>
              </a:rPr>
              <a:t> - Denetleme ve Puanlama Yan koltuktaki ve arka koltuktaki iki farklı direksiyon eğitmenidir. Sürücünün yaptığı hamleyi ve gidişatını puanlarlar (Q-Değeri). İki kişi olmalarının sebebi, tek bir öğretmenin aşırı iyimser (overestimation) puanlar verip sürücüyü kandırmasını engellemektir. Her zaman bu iki öğretmenin verdiği en düşük puan dikkate alınır, böylece daha güvenli ve gerçekçi öğrenme sağlanır.</a:t>
            </a:r>
          </a:p>
          <a:p>
            <a:pPr algn="l">
              <a:lnSpc>
                <a:spcPts val="3500"/>
              </a:lnSpc>
              <a:spcBef>
                <a:spcPct val="0"/>
              </a:spcBef>
            </a:pPr>
            <a:endParaRPr lang="en-US" sz="2500">
              <a:solidFill>
                <a:srgbClr val="000000"/>
              </a:solidFill>
              <a:latin typeface="Poppins"/>
              <a:ea typeface="Poppins"/>
              <a:cs typeface="Poppins"/>
              <a:sym typeface="Poppins"/>
            </a:endParaRPr>
          </a:p>
          <a:p>
            <a:pPr algn="l">
              <a:lnSpc>
                <a:spcPts val="3500"/>
              </a:lnSpc>
              <a:spcBef>
                <a:spcPct val="0"/>
              </a:spcBef>
            </a:pPr>
            <a:r>
              <a:rPr lang="en-US" sz="2500" b="1">
                <a:solidFill>
                  <a:srgbClr val="000000"/>
                </a:solidFill>
                <a:latin typeface="Poppins Bold"/>
                <a:ea typeface="Poppins Bold"/>
                <a:cs typeface="Poppins Bold"/>
                <a:sym typeface="Poppins Bold"/>
              </a:rPr>
              <a:t>3. Entropi (Entropy)</a:t>
            </a:r>
            <a:r>
              <a:rPr lang="en-US" sz="2500">
                <a:solidFill>
                  <a:srgbClr val="000000"/>
                </a:solidFill>
                <a:latin typeface="Poppins"/>
                <a:ea typeface="Poppins"/>
                <a:cs typeface="Poppins"/>
                <a:sym typeface="Poppins"/>
              </a:rPr>
              <a:t> - Esneklik ve Keşif Ölçütü SAC’yi diğerlerinden ayıran en özel kavramdır. Sürücü sadece "En yüksek puanı nasıl alırım?" diye düşünmez, aynı zamanda "Hedefe ulaşırken başka hangi alternatif yolları keşfedebilirim?" diye sorar. Sistem, sürücüyü sadece başarılı olduğu için değil, aynı zamanda tahmin edilemez (yüksek entropili) ve farklı çözüm yolları denediği için de ekstra ödüllendirir. Bu sayede yapay zeka tek bir ezber davranışa saplanıp kalmaktan kurtulur.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50837" y="1662633"/>
            <a:ext cx="11721172" cy="122237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Frontend Katmanı</a:t>
            </a:r>
          </a:p>
        </p:txBody>
      </p:sp>
      <p:grpSp>
        <p:nvGrpSpPr>
          <p:cNvPr id="3" name="Group 3"/>
          <p:cNvGrpSpPr/>
          <p:nvPr/>
        </p:nvGrpSpPr>
        <p:grpSpPr>
          <a:xfrm rot="5400000">
            <a:off x="4688321" y="9296411"/>
            <a:ext cx="1981177" cy="198117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5400000">
            <a:off x="1873451" y="-990589"/>
            <a:ext cx="1981177" cy="198117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5400000">
            <a:off x="6102916" y="9511446"/>
            <a:ext cx="1553095" cy="155309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rot="5400000">
            <a:off x="882863" y="-775554"/>
            <a:ext cx="1553095" cy="155309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TextBox 15"/>
          <p:cNvSpPr txBox="1"/>
          <p:nvPr/>
        </p:nvSpPr>
        <p:spPr>
          <a:xfrm>
            <a:off x="220716" y="3204626"/>
            <a:ext cx="18067284" cy="6306819"/>
          </a:xfrm>
          <a:prstGeom prst="rect">
            <a:avLst/>
          </a:prstGeom>
        </p:spPr>
        <p:txBody>
          <a:bodyPr lIns="0" tIns="0" rIns="0" bIns="0" rtlCol="0" anchor="t">
            <a:spAutoFit/>
          </a:bodyPr>
          <a:lstStyle/>
          <a:p>
            <a:pPr marL="0" lvl="0" indent="0" algn="l">
              <a:lnSpc>
                <a:spcPts val="3080"/>
              </a:lnSpc>
              <a:spcBef>
                <a:spcPct val="0"/>
              </a:spcBef>
            </a:pPr>
            <a:r>
              <a:rPr lang="en-US" sz="2200">
                <a:solidFill>
                  <a:srgbClr val="000000"/>
                </a:solidFill>
                <a:latin typeface="Poppins"/>
                <a:ea typeface="Poppins"/>
                <a:cs typeface="Poppins"/>
                <a:sym typeface="Poppins"/>
              </a:rPr>
              <a:t>    </a:t>
            </a:r>
            <a:r>
              <a:rPr lang="en-US" sz="2200" u="none" strike="noStrike">
                <a:solidFill>
                  <a:srgbClr val="000000"/>
                </a:solidFill>
                <a:latin typeface="Poppins"/>
                <a:ea typeface="Poppins"/>
                <a:cs typeface="Poppins"/>
                <a:sym typeface="Poppins"/>
              </a:rPr>
              <a:t>Uygulamanın görsel arayüzü React ile geliştirilmiş, üç boyutlu simülasyon sahnesi için ise Three.js kütüphanesi kullanılmıştır.</a:t>
            </a:r>
          </a:p>
          <a:p>
            <a:pPr marL="0" lvl="0" indent="0" algn="l">
              <a:lnSpc>
                <a:spcPts val="3080"/>
              </a:lnSpc>
              <a:spcBef>
                <a:spcPct val="0"/>
              </a:spcBef>
            </a:pPr>
            <a:r>
              <a:rPr lang="en-US" sz="2200" u="none" strike="noStrike">
                <a:solidFill>
                  <a:srgbClr val="000000"/>
                </a:solidFill>
                <a:latin typeface="Poppins"/>
                <a:ea typeface="Poppins"/>
                <a:cs typeface="Poppins"/>
                <a:sym typeface="Poppins"/>
              </a:rPr>
              <a:t>    Kullanıcı arayüzü şu kontrolleri sunar:</a:t>
            </a:r>
          </a:p>
          <a:p>
            <a:pPr marL="474984" lvl="1" indent="-237492" algn="l">
              <a:lnSpc>
                <a:spcPts val="3718"/>
              </a:lnSpc>
              <a:buFont typeface="Arial"/>
              <a:buChar char="•"/>
            </a:pPr>
            <a:r>
              <a:rPr lang="en-US" sz="2200" b="1" u="none" strike="noStrike">
                <a:solidFill>
                  <a:srgbClr val="000000"/>
                </a:solidFill>
                <a:latin typeface="Poppins Bold"/>
                <a:ea typeface="Poppins Bold"/>
                <a:cs typeface="Poppins Bold"/>
                <a:sym typeface="Poppins Bold"/>
              </a:rPr>
              <a:t>Izgara boyutu:</a:t>
            </a:r>
            <a:r>
              <a:rPr lang="en-US" sz="2200" u="none" strike="noStrike">
                <a:solidFill>
                  <a:srgbClr val="000000"/>
                </a:solidFill>
                <a:latin typeface="Poppins"/>
                <a:ea typeface="Poppins"/>
                <a:cs typeface="Poppins"/>
                <a:sym typeface="Poppins"/>
              </a:rPr>
              <a:t> 4 farklı seçenek arasından seçim yapılabilir — 11×11, 15×15, 21×21 ve 31×31. Boyut büyüdükçe harita karmaşıklığı ve dinamik engel sayısı da artar.</a:t>
            </a:r>
          </a:p>
          <a:p>
            <a:pPr marL="474984" lvl="1" indent="-237492" algn="l">
              <a:lnSpc>
                <a:spcPts val="3718"/>
              </a:lnSpc>
              <a:buFont typeface="Arial"/>
              <a:buChar char="•"/>
            </a:pPr>
            <a:r>
              <a:rPr lang="en-US" sz="2200" b="1" u="none" strike="noStrike">
                <a:solidFill>
                  <a:srgbClr val="000000"/>
                </a:solidFill>
                <a:latin typeface="Poppins Bold"/>
                <a:ea typeface="Poppins Bold"/>
                <a:cs typeface="Poppins Bold"/>
                <a:sym typeface="Poppins Bold"/>
              </a:rPr>
              <a:t>Zorluk seviyesi: </a:t>
            </a:r>
            <a:r>
              <a:rPr lang="en-US" sz="2200" u="none" strike="noStrike">
                <a:solidFill>
                  <a:srgbClr val="000000"/>
                </a:solidFill>
                <a:latin typeface="Poppins"/>
                <a:ea typeface="Poppins"/>
                <a:cs typeface="Poppins"/>
                <a:sym typeface="Poppins"/>
              </a:rPr>
              <a:t>Rastgele, Kolay (yalnızca statik engel), Orta (1 dinamik), Zor (3 dinamik), Çok Zor (5 dinamik) ve Cehennem (8 dinamik) olmak üzere 6 zorluk kademesi mevcuttur.</a:t>
            </a:r>
          </a:p>
          <a:p>
            <a:pPr marL="474984" lvl="1" indent="-237492" algn="l">
              <a:lnSpc>
                <a:spcPts val="3718"/>
              </a:lnSpc>
              <a:buFont typeface="Arial"/>
              <a:buChar char="•"/>
            </a:pPr>
            <a:r>
              <a:rPr lang="en-US" sz="2200" b="1" u="none" strike="noStrike">
                <a:solidFill>
                  <a:srgbClr val="000000"/>
                </a:solidFill>
                <a:latin typeface="Poppins Bold"/>
                <a:ea typeface="Poppins Bold"/>
                <a:cs typeface="Poppins Bold"/>
                <a:sym typeface="Poppins Bold"/>
              </a:rPr>
              <a:t>Harita teması:</a:t>
            </a:r>
            <a:r>
              <a:rPr lang="en-US" sz="2200" u="none" strike="noStrike">
                <a:solidFill>
                  <a:srgbClr val="000000"/>
                </a:solidFill>
                <a:latin typeface="Poppins"/>
                <a:ea typeface="Poppins"/>
                <a:cs typeface="Poppins"/>
                <a:sym typeface="Poppins"/>
              </a:rPr>
              <a:t> Şehir, Depo, Mars ve Hastane olmak üzere 4 farklı görsel tema seçilebilir. Tema yalnızca görseli etkiler, simülasyon mantığını değiştirmez.</a:t>
            </a:r>
          </a:p>
          <a:p>
            <a:pPr marL="474984" lvl="1" indent="-237492" algn="l">
              <a:lnSpc>
                <a:spcPts val="3718"/>
              </a:lnSpc>
              <a:buFont typeface="Arial"/>
              <a:buChar char="•"/>
            </a:pPr>
            <a:r>
              <a:rPr lang="en-US" sz="2200" b="1" u="none" strike="noStrike">
                <a:solidFill>
                  <a:srgbClr val="000000"/>
                </a:solidFill>
                <a:latin typeface="Poppins Bold"/>
                <a:ea typeface="Poppins Bold"/>
                <a:cs typeface="Poppins Bold"/>
                <a:sym typeface="Poppins Bold"/>
              </a:rPr>
              <a:t>Model seçimi: </a:t>
            </a:r>
            <a:r>
              <a:rPr lang="en-US" sz="2200" u="none" strike="noStrike">
                <a:solidFill>
                  <a:srgbClr val="000000"/>
                </a:solidFill>
                <a:latin typeface="Poppins"/>
                <a:ea typeface="Poppins"/>
                <a:cs typeface="Poppins"/>
                <a:sym typeface="Poppins"/>
              </a:rPr>
              <a:t>Backend'deki mevcut modeller (DQN, A2C, PPO varyantları) açılır menüden seçilebilir. Seçim yapıldığında backend sunucu yeniden başlatılmadan canlı olarak model değişir.</a:t>
            </a:r>
          </a:p>
          <a:p>
            <a:pPr marL="474984" lvl="1" indent="-237492" algn="l">
              <a:lnSpc>
                <a:spcPts val="3718"/>
              </a:lnSpc>
              <a:buFont typeface="Arial"/>
              <a:buChar char="•"/>
            </a:pPr>
            <a:r>
              <a:rPr lang="en-US" sz="2200" u="none" strike="noStrike">
                <a:solidFill>
                  <a:srgbClr val="000000"/>
                </a:solidFill>
                <a:latin typeface="Poppins"/>
                <a:ea typeface="Poppins"/>
                <a:cs typeface="Poppins"/>
                <a:sym typeface="Poppins"/>
              </a:rPr>
              <a:t>Her simülasyon adımında WebSocket bağlantısı üzerinden ajanın yeni konumu, aldığı ödül, Q-değerleri ve adım sayısı gerçek zamanlı olarak ekrana yansıtılır; simülasyon hedefe ulaşma veya çarpışmayla sonuçlandığında kullanıcıya anlık bildirim gösterilir.</a:t>
            </a:r>
          </a:p>
          <a:p>
            <a:pPr marL="0" lvl="0" indent="0" algn="l">
              <a:lnSpc>
                <a:spcPts val="3080"/>
              </a:lnSpc>
              <a:spcBef>
                <a:spcPct val="0"/>
              </a:spcBef>
            </a:pPr>
            <a:endParaRPr lang="en-US" sz="2200" u="none" strike="noStrike">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3226268" y="8980248"/>
            <a:ext cx="2613504" cy="261350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964850" y="5395500"/>
            <a:ext cx="1929699" cy="192969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rot="5400000">
            <a:off x="15083402" y="9531597"/>
            <a:ext cx="1512740" cy="151274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755403" y="4434621"/>
            <a:ext cx="1512740" cy="151274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4" name="Group 14"/>
          <p:cNvGrpSpPr/>
          <p:nvPr/>
        </p:nvGrpSpPr>
        <p:grpSpPr>
          <a:xfrm rot="-5400000">
            <a:off x="3177525" y="-559703"/>
            <a:ext cx="1434499" cy="143449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6" name="TextBox 1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7" name="Group 17"/>
          <p:cNvGrpSpPr/>
          <p:nvPr/>
        </p:nvGrpSpPr>
        <p:grpSpPr>
          <a:xfrm rot="5400000">
            <a:off x="1479841" y="-991660"/>
            <a:ext cx="2298412" cy="22984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9" name="TextBox 1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20" name="Freeform 20"/>
          <p:cNvSpPr/>
          <p:nvPr/>
        </p:nvSpPr>
        <p:spPr>
          <a:xfrm>
            <a:off x="13932043" y="-863166"/>
            <a:ext cx="4517944" cy="2230735"/>
          </a:xfrm>
          <a:custGeom>
            <a:avLst/>
            <a:gdLst/>
            <a:ahLst/>
            <a:cxnLst/>
            <a:rect l="l" t="t" r="r" b="b"/>
            <a:pathLst>
              <a:path w="4517944" h="2230735">
                <a:moveTo>
                  <a:pt x="0" y="0"/>
                </a:moveTo>
                <a:lnTo>
                  <a:pt x="4517945" y="0"/>
                </a:lnTo>
                <a:lnTo>
                  <a:pt x="4517945"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21" name="Freeform 21"/>
          <p:cNvSpPr/>
          <p:nvPr/>
        </p:nvSpPr>
        <p:spPr>
          <a:xfrm flipH="1" flipV="1">
            <a:off x="1244227" y="869747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22" name="Freeform 22"/>
          <p:cNvSpPr/>
          <p:nvPr/>
        </p:nvSpPr>
        <p:spPr>
          <a:xfrm>
            <a:off x="1479841" y="3325813"/>
            <a:ext cx="14802620" cy="3034537"/>
          </a:xfrm>
          <a:custGeom>
            <a:avLst/>
            <a:gdLst/>
            <a:ahLst/>
            <a:cxnLst/>
            <a:rect l="l" t="t" r="r" b="b"/>
            <a:pathLst>
              <a:path w="14802620" h="3034537">
                <a:moveTo>
                  <a:pt x="0" y="0"/>
                </a:moveTo>
                <a:lnTo>
                  <a:pt x="14802620" y="0"/>
                </a:lnTo>
                <a:lnTo>
                  <a:pt x="14802620" y="3034537"/>
                </a:lnTo>
                <a:lnTo>
                  <a:pt x="0" y="3034537"/>
                </a:lnTo>
                <a:lnTo>
                  <a:pt x="0" y="0"/>
                </a:lnTo>
                <a:close/>
              </a:path>
            </a:pathLst>
          </a:custGeom>
          <a:blipFill>
            <a:blip r:embed="rId3"/>
            <a:stretch>
              <a:fillRect/>
            </a:stretch>
          </a:blipFill>
        </p:spPr>
        <p:txBody>
          <a:bodyPr/>
          <a:lstStyle/>
          <a:p>
            <a:endParaRPr lang="tr-TR"/>
          </a:p>
        </p:txBody>
      </p:sp>
      <p:sp>
        <p:nvSpPr>
          <p:cNvPr id="23" name="TextBox 23"/>
          <p:cNvSpPr txBox="1"/>
          <p:nvPr/>
        </p:nvSpPr>
        <p:spPr>
          <a:xfrm>
            <a:off x="3503199" y="1662844"/>
            <a:ext cx="11158664" cy="1222374"/>
          </a:xfrm>
          <a:prstGeom prst="rect">
            <a:avLst/>
          </a:prstGeom>
        </p:spPr>
        <p:txBody>
          <a:bodyPr lIns="0" tIns="0" rIns="0" bIns="0" rtlCol="0" anchor="t">
            <a:spAutoFit/>
          </a:bodyPr>
          <a:lstStyle/>
          <a:p>
            <a:pPr marL="0" lvl="0" indent="0" algn="l">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Kullanıcı Arayüzü</a:t>
            </a:r>
          </a:p>
        </p:txBody>
      </p:sp>
      <p:sp>
        <p:nvSpPr>
          <p:cNvPr id="24" name="TextBox 24"/>
          <p:cNvSpPr txBox="1"/>
          <p:nvPr/>
        </p:nvSpPr>
        <p:spPr>
          <a:xfrm>
            <a:off x="3177525" y="6869905"/>
            <a:ext cx="12377526" cy="843915"/>
          </a:xfrm>
          <a:prstGeom prst="rect">
            <a:avLst/>
          </a:prstGeom>
        </p:spPr>
        <p:txBody>
          <a:bodyPr lIns="0" tIns="0" rIns="0" bIns="0" rtlCol="0" anchor="t">
            <a:spAutoFit/>
          </a:bodyPr>
          <a:lstStyle/>
          <a:p>
            <a:pPr marL="0" lvl="0" indent="0" algn="l">
              <a:lnSpc>
                <a:spcPts val="3360"/>
              </a:lnSpc>
              <a:spcBef>
                <a:spcPct val="0"/>
              </a:spcBef>
            </a:pPr>
            <a:r>
              <a:rPr lang="en-US" sz="2400" u="none" strike="noStrike">
                <a:solidFill>
                  <a:srgbClr val="000000"/>
                </a:solidFill>
                <a:latin typeface="Poppins"/>
                <a:ea typeface="Poppins"/>
                <a:cs typeface="Poppins"/>
                <a:sym typeface="Poppins"/>
              </a:rPr>
              <a:t>Kullanıcının harita tasarlamak, rastgele harita seçmek ve modeli belirlemek için kullandığı seçeneklerin bulunduğu card.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V="1">
            <a:off x="-1496275" y="6872738"/>
            <a:ext cx="4888696" cy="2413794"/>
          </a:xfrm>
          <a:custGeom>
            <a:avLst/>
            <a:gdLst/>
            <a:ahLst/>
            <a:cxnLst/>
            <a:rect l="l" t="t" r="r" b="b"/>
            <a:pathLst>
              <a:path w="4888696" h="2413794">
                <a:moveTo>
                  <a:pt x="0" y="2413794"/>
                </a:moveTo>
                <a:lnTo>
                  <a:pt x="4888696" y="2413794"/>
                </a:lnTo>
                <a:lnTo>
                  <a:pt x="4888696" y="0"/>
                </a:lnTo>
                <a:lnTo>
                  <a:pt x="0" y="0"/>
                </a:lnTo>
                <a:lnTo>
                  <a:pt x="0" y="2413794"/>
                </a:lnTo>
                <a:close/>
              </a:path>
            </a:pathLst>
          </a:custGeom>
          <a:blipFill>
            <a:blip r:embed="rId2">
              <a:alphaModFix amt="31999"/>
            </a:blip>
            <a:stretch>
              <a:fillRect/>
            </a:stretch>
          </a:blipFill>
        </p:spPr>
        <p:txBody>
          <a:bodyPr/>
          <a:lstStyle/>
          <a:p>
            <a:endParaRPr lang="tr-TR"/>
          </a:p>
        </p:txBody>
      </p:sp>
      <p:grpSp>
        <p:nvGrpSpPr>
          <p:cNvPr id="3" name="Group 3"/>
          <p:cNvGrpSpPr/>
          <p:nvPr/>
        </p:nvGrpSpPr>
        <p:grpSpPr>
          <a:xfrm>
            <a:off x="17454654" y="7811400"/>
            <a:ext cx="1666691" cy="166669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10800000">
            <a:off x="-860637" y="812475"/>
            <a:ext cx="1666691" cy="166669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10800000">
            <a:off x="17635555" y="6981484"/>
            <a:ext cx="1306561" cy="130656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a:off x="-681408" y="2002521"/>
            <a:ext cx="1306561" cy="130656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Freeform 15"/>
          <p:cNvSpPr/>
          <p:nvPr/>
        </p:nvSpPr>
        <p:spPr>
          <a:xfrm>
            <a:off x="5288657" y="2479166"/>
            <a:ext cx="7228693" cy="7659542"/>
          </a:xfrm>
          <a:custGeom>
            <a:avLst/>
            <a:gdLst/>
            <a:ahLst/>
            <a:cxnLst/>
            <a:rect l="l" t="t" r="r" b="b"/>
            <a:pathLst>
              <a:path w="7228693" h="7659542">
                <a:moveTo>
                  <a:pt x="0" y="0"/>
                </a:moveTo>
                <a:lnTo>
                  <a:pt x="7228693" y="0"/>
                </a:lnTo>
                <a:lnTo>
                  <a:pt x="7228693" y="7659542"/>
                </a:lnTo>
                <a:lnTo>
                  <a:pt x="0" y="7659542"/>
                </a:lnTo>
                <a:lnTo>
                  <a:pt x="0" y="0"/>
                </a:lnTo>
                <a:close/>
              </a:path>
            </a:pathLst>
          </a:custGeom>
          <a:blipFill>
            <a:blip r:embed="rId3"/>
            <a:stretch>
              <a:fillRect/>
            </a:stretch>
          </a:blipFill>
        </p:spPr>
        <p:txBody>
          <a:bodyPr/>
          <a:lstStyle/>
          <a:p>
            <a:endParaRPr lang="tr-TR"/>
          </a:p>
        </p:txBody>
      </p:sp>
      <p:sp>
        <p:nvSpPr>
          <p:cNvPr id="16" name="TextBox 16"/>
          <p:cNvSpPr txBox="1"/>
          <p:nvPr/>
        </p:nvSpPr>
        <p:spPr>
          <a:xfrm>
            <a:off x="1698641" y="1213216"/>
            <a:ext cx="15756014" cy="789305"/>
          </a:xfrm>
          <a:prstGeom prst="rect">
            <a:avLst/>
          </a:prstGeom>
        </p:spPr>
        <p:txBody>
          <a:bodyPr lIns="0" tIns="0" rIns="0" bIns="0" rtlCol="0" anchor="t">
            <a:spAutoFit/>
          </a:bodyPr>
          <a:lstStyle/>
          <a:p>
            <a:pPr marL="0" lvl="0" indent="0" algn="l">
              <a:lnSpc>
                <a:spcPts val="5785"/>
              </a:lnSpc>
              <a:spcBef>
                <a:spcPct val="0"/>
              </a:spcBef>
            </a:pPr>
            <a:r>
              <a:rPr lang="en-US" sz="6500" i="1" u="none" strike="noStrike" spc="-195">
                <a:solidFill>
                  <a:srgbClr val="311581"/>
                </a:solidFill>
                <a:latin typeface="Libre Baskerville Italics"/>
                <a:ea typeface="Libre Baskerville Italics"/>
                <a:cs typeface="Libre Baskerville Italics"/>
                <a:sym typeface="Libre Baskerville Italics"/>
              </a:rPr>
              <a:t>2 Boyutlu Gösterim-Harita Izgara Yapısı</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895579" y="1000468"/>
            <a:ext cx="4888696" cy="2413794"/>
          </a:xfrm>
          <a:custGeom>
            <a:avLst/>
            <a:gdLst/>
            <a:ahLst/>
            <a:cxnLst/>
            <a:rect l="l" t="t" r="r" b="b"/>
            <a:pathLst>
              <a:path w="4888696" h="2413794">
                <a:moveTo>
                  <a:pt x="4888696" y="0"/>
                </a:moveTo>
                <a:lnTo>
                  <a:pt x="0" y="0"/>
                </a:lnTo>
                <a:lnTo>
                  <a:pt x="0" y="2413794"/>
                </a:lnTo>
                <a:lnTo>
                  <a:pt x="4888696" y="2413794"/>
                </a:lnTo>
                <a:lnTo>
                  <a:pt x="4888696"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5400000" flipV="1">
            <a:off x="-1496275" y="6872738"/>
            <a:ext cx="4888696" cy="2413794"/>
          </a:xfrm>
          <a:custGeom>
            <a:avLst/>
            <a:gdLst/>
            <a:ahLst/>
            <a:cxnLst/>
            <a:rect l="l" t="t" r="r" b="b"/>
            <a:pathLst>
              <a:path w="4888696" h="2413794">
                <a:moveTo>
                  <a:pt x="0" y="2413794"/>
                </a:moveTo>
                <a:lnTo>
                  <a:pt x="4888696" y="2413794"/>
                </a:lnTo>
                <a:lnTo>
                  <a:pt x="4888696" y="0"/>
                </a:lnTo>
                <a:lnTo>
                  <a:pt x="0" y="0"/>
                </a:lnTo>
                <a:lnTo>
                  <a:pt x="0" y="2413794"/>
                </a:lnTo>
                <a:close/>
              </a:path>
            </a:pathLst>
          </a:custGeom>
          <a:blipFill>
            <a:blip r:embed="rId2">
              <a:alphaModFix amt="31999"/>
            </a:blip>
            <a:stretch>
              <a:fillRect/>
            </a:stretch>
          </a:blipFill>
        </p:spPr>
        <p:txBody>
          <a:bodyPr/>
          <a:lstStyle/>
          <a:p>
            <a:endParaRPr lang="tr-TR"/>
          </a:p>
        </p:txBody>
      </p:sp>
      <p:grpSp>
        <p:nvGrpSpPr>
          <p:cNvPr id="4" name="Group 4"/>
          <p:cNvGrpSpPr/>
          <p:nvPr/>
        </p:nvGrpSpPr>
        <p:grpSpPr>
          <a:xfrm>
            <a:off x="17454654" y="7811400"/>
            <a:ext cx="1666691" cy="1666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6" name="TextBox 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7" name="Group 7"/>
          <p:cNvGrpSpPr/>
          <p:nvPr/>
        </p:nvGrpSpPr>
        <p:grpSpPr>
          <a:xfrm rot="-10800000">
            <a:off x="-860637" y="812475"/>
            <a:ext cx="1666691" cy="166669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9" name="TextBox 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0" name="Group 10"/>
          <p:cNvGrpSpPr/>
          <p:nvPr/>
        </p:nvGrpSpPr>
        <p:grpSpPr>
          <a:xfrm rot="-10800000">
            <a:off x="17635555" y="6981484"/>
            <a:ext cx="1306561" cy="13065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2" name="TextBox 12"/>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3" name="Group 13"/>
          <p:cNvGrpSpPr/>
          <p:nvPr/>
        </p:nvGrpSpPr>
        <p:grpSpPr>
          <a:xfrm>
            <a:off x="-681408" y="2002521"/>
            <a:ext cx="1306561" cy="130656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5" name="TextBox 1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6" name="Freeform 16"/>
          <p:cNvSpPr/>
          <p:nvPr/>
        </p:nvSpPr>
        <p:spPr>
          <a:xfrm>
            <a:off x="2107441" y="3466707"/>
            <a:ext cx="14025589" cy="6539431"/>
          </a:xfrm>
          <a:custGeom>
            <a:avLst/>
            <a:gdLst/>
            <a:ahLst/>
            <a:cxnLst/>
            <a:rect l="l" t="t" r="r" b="b"/>
            <a:pathLst>
              <a:path w="14025589" h="6539431">
                <a:moveTo>
                  <a:pt x="0" y="0"/>
                </a:moveTo>
                <a:lnTo>
                  <a:pt x="14025589" y="0"/>
                </a:lnTo>
                <a:lnTo>
                  <a:pt x="14025589" y="6539431"/>
                </a:lnTo>
                <a:lnTo>
                  <a:pt x="0" y="6539431"/>
                </a:lnTo>
                <a:lnTo>
                  <a:pt x="0" y="0"/>
                </a:lnTo>
                <a:close/>
              </a:path>
            </a:pathLst>
          </a:custGeom>
          <a:blipFill>
            <a:blip r:embed="rId3"/>
            <a:stretch>
              <a:fillRect/>
            </a:stretch>
          </a:blipFill>
        </p:spPr>
        <p:txBody>
          <a:bodyPr/>
          <a:lstStyle/>
          <a:p>
            <a:endParaRPr lang="tr-TR"/>
          </a:p>
        </p:txBody>
      </p:sp>
      <p:sp>
        <p:nvSpPr>
          <p:cNvPr id="17" name="TextBox 17"/>
          <p:cNvSpPr txBox="1"/>
          <p:nvPr/>
        </p:nvSpPr>
        <p:spPr>
          <a:xfrm>
            <a:off x="2898581" y="1133072"/>
            <a:ext cx="12130096" cy="1522730"/>
          </a:xfrm>
          <a:prstGeom prst="rect">
            <a:avLst/>
          </a:prstGeom>
        </p:spPr>
        <p:txBody>
          <a:bodyPr lIns="0" tIns="0" rIns="0" bIns="0" rtlCol="0" anchor="t">
            <a:spAutoFit/>
          </a:bodyPr>
          <a:lstStyle/>
          <a:p>
            <a:pPr marL="0" lvl="0" indent="0" algn="ctr">
              <a:lnSpc>
                <a:spcPts val="5785"/>
              </a:lnSpc>
              <a:spcBef>
                <a:spcPct val="0"/>
              </a:spcBef>
            </a:pPr>
            <a:r>
              <a:rPr lang="en-US" sz="6500" i="1" u="none" strike="noStrike" spc="-195">
                <a:solidFill>
                  <a:srgbClr val="311581"/>
                </a:solidFill>
                <a:latin typeface="Libre Baskerville Italics"/>
                <a:ea typeface="Libre Baskerville Italics"/>
                <a:cs typeface="Libre Baskerville Italics"/>
                <a:sym typeface="Libre Baskerville Italics"/>
              </a:rPr>
              <a:t>3 Boyutlu Gösterim - Serbest Kamera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222570" y="5932573"/>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065430" y="904919"/>
            <a:ext cx="2445141" cy="2445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a:off x="-959630" y="7678446"/>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328370" y="2650792"/>
            <a:ext cx="1916807" cy="191680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4" name="Freeform 14"/>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15" name="Freeform 15"/>
          <p:cNvSpPr/>
          <p:nvPr/>
        </p:nvSpPr>
        <p:spPr>
          <a:xfrm flipH="1">
            <a:off x="1405107" y="-788898"/>
            <a:ext cx="4517944" cy="2230735"/>
          </a:xfrm>
          <a:custGeom>
            <a:avLst/>
            <a:gdLst/>
            <a:ahLst/>
            <a:cxnLst/>
            <a:rect l="l" t="t" r="r" b="b"/>
            <a:pathLst>
              <a:path w="4517944" h="2230735">
                <a:moveTo>
                  <a:pt x="4517945" y="0"/>
                </a:moveTo>
                <a:lnTo>
                  <a:pt x="0" y="0"/>
                </a:lnTo>
                <a:lnTo>
                  <a:pt x="0" y="2230735"/>
                </a:lnTo>
                <a:lnTo>
                  <a:pt x="4517945" y="2230735"/>
                </a:lnTo>
                <a:lnTo>
                  <a:pt x="4517945" y="0"/>
                </a:lnTo>
                <a:close/>
              </a:path>
            </a:pathLst>
          </a:custGeom>
          <a:blipFill>
            <a:blip r:embed="rId2">
              <a:alphaModFix amt="31999"/>
            </a:blip>
            <a:stretch>
              <a:fillRect/>
            </a:stretch>
          </a:blipFill>
        </p:spPr>
        <p:txBody>
          <a:bodyPr/>
          <a:lstStyle/>
          <a:p>
            <a:endParaRPr lang="tr-TR"/>
          </a:p>
        </p:txBody>
      </p:sp>
      <p:sp>
        <p:nvSpPr>
          <p:cNvPr id="16" name="Freeform 16"/>
          <p:cNvSpPr/>
          <p:nvPr/>
        </p:nvSpPr>
        <p:spPr>
          <a:xfrm>
            <a:off x="2203512" y="3353215"/>
            <a:ext cx="14143917" cy="5905085"/>
          </a:xfrm>
          <a:custGeom>
            <a:avLst/>
            <a:gdLst/>
            <a:ahLst/>
            <a:cxnLst/>
            <a:rect l="l" t="t" r="r" b="b"/>
            <a:pathLst>
              <a:path w="14143917" h="5905085">
                <a:moveTo>
                  <a:pt x="0" y="0"/>
                </a:moveTo>
                <a:lnTo>
                  <a:pt x="14143917" y="0"/>
                </a:lnTo>
                <a:lnTo>
                  <a:pt x="14143917" y="5905085"/>
                </a:lnTo>
                <a:lnTo>
                  <a:pt x="0" y="5905085"/>
                </a:lnTo>
                <a:lnTo>
                  <a:pt x="0" y="0"/>
                </a:lnTo>
                <a:close/>
              </a:path>
            </a:pathLst>
          </a:custGeom>
          <a:blipFill>
            <a:blip r:embed="rId3"/>
            <a:stretch>
              <a:fillRect/>
            </a:stretch>
          </a:blipFill>
        </p:spPr>
        <p:txBody>
          <a:bodyPr/>
          <a:lstStyle/>
          <a:p>
            <a:endParaRPr lang="tr-TR"/>
          </a:p>
        </p:txBody>
      </p:sp>
      <p:sp>
        <p:nvSpPr>
          <p:cNvPr id="17" name="TextBox 17"/>
          <p:cNvSpPr txBox="1"/>
          <p:nvPr/>
        </p:nvSpPr>
        <p:spPr>
          <a:xfrm>
            <a:off x="2658471" y="1832849"/>
            <a:ext cx="12971058" cy="789305"/>
          </a:xfrm>
          <a:prstGeom prst="rect">
            <a:avLst/>
          </a:prstGeom>
        </p:spPr>
        <p:txBody>
          <a:bodyPr lIns="0" tIns="0" rIns="0" bIns="0" rtlCol="0" anchor="t">
            <a:spAutoFit/>
          </a:bodyPr>
          <a:lstStyle/>
          <a:p>
            <a:pPr marL="0" lvl="0" indent="0" algn="ctr">
              <a:lnSpc>
                <a:spcPts val="5785"/>
              </a:lnSpc>
              <a:spcBef>
                <a:spcPct val="0"/>
              </a:spcBef>
            </a:pPr>
            <a:r>
              <a:rPr lang="en-US" sz="6500" i="1" u="none" strike="noStrike" spc="-195">
                <a:solidFill>
                  <a:srgbClr val="311581"/>
                </a:solidFill>
                <a:latin typeface="Libre Baskerville Italics"/>
                <a:ea typeface="Libre Baskerville Italics"/>
                <a:cs typeface="Libre Baskerville Italics"/>
                <a:sym typeface="Libre Baskerville Italics"/>
              </a:rPr>
              <a:t>3 Boyutlu Gösterim - TPS Kamera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222570" y="5932573"/>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065430" y="904919"/>
            <a:ext cx="2445141" cy="2445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a:off x="-959630" y="7678446"/>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328370" y="2650792"/>
            <a:ext cx="1916807" cy="191680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4" name="Freeform 14"/>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15" name="Freeform 15"/>
          <p:cNvSpPr/>
          <p:nvPr/>
        </p:nvSpPr>
        <p:spPr>
          <a:xfrm flipH="1">
            <a:off x="1405107" y="-788898"/>
            <a:ext cx="4517944" cy="2230735"/>
          </a:xfrm>
          <a:custGeom>
            <a:avLst/>
            <a:gdLst/>
            <a:ahLst/>
            <a:cxnLst/>
            <a:rect l="l" t="t" r="r" b="b"/>
            <a:pathLst>
              <a:path w="4517944" h="2230735">
                <a:moveTo>
                  <a:pt x="4517945" y="0"/>
                </a:moveTo>
                <a:lnTo>
                  <a:pt x="0" y="0"/>
                </a:lnTo>
                <a:lnTo>
                  <a:pt x="0" y="2230735"/>
                </a:lnTo>
                <a:lnTo>
                  <a:pt x="4517945" y="2230735"/>
                </a:lnTo>
                <a:lnTo>
                  <a:pt x="4517945" y="0"/>
                </a:lnTo>
                <a:close/>
              </a:path>
            </a:pathLst>
          </a:custGeom>
          <a:blipFill>
            <a:blip r:embed="rId2">
              <a:alphaModFix amt="31999"/>
            </a:blip>
            <a:stretch>
              <a:fillRect/>
            </a:stretch>
          </a:blipFill>
        </p:spPr>
        <p:txBody>
          <a:bodyPr/>
          <a:lstStyle/>
          <a:p>
            <a:endParaRPr lang="tr-TR"/>
          </a:p>
        </p:txBody>
      </p:sp>
      <p:sp>
        <p:nvSpPr>
          <p:cNvPr id="16" name="Freeform 16"/>
          <p:cNvSpPr/>
          <p:nvPr/>
        </p:nvSpPr>
        <p:spPr>
          <a:xfrm>
            <a:off x="2580012" y="4180974"/>
            <a:ext cx="13125524" cy="5414279"/>
          </a:xfrm>
          <a:custGeom>
            <a:avLst/>
            <a:gdLst/>
            <a:ahLst/>
            <a:cxnLst/>
            <a:rect l="l" t="t" r="r" b="b"/>
            <a:pathLst>
              <a:path w="13125524" h="5414279">
                <a:moveTo>
                  <a:pt x="0" y="0"/>
                </a:moveTo>
                <a:lnTo>
                  <a:pt x="13125524" y="0"/>
                </a:lnTo>
                <a:lnTo>
                  <a:pt x="13125524" y="5414279"/>
                </a:lnTo>
                <a:lnTo>
                  <a:pt x="0" y="5414279"/>
                </a:lnTo>
                <a:lnTo>
                  <a:pt x="0" y="0"/>
                </a:lnTo>
                <a:close/>
              </a:path>
            </a:pathLst>
          </a:custGeom>
          <a:blipFill>
            <a:blip r:embed="rId3"/>
            <a:stretch>
              <a:fillRect/>
            </a:stretch>
          </a:blipFill>
        </p:spPr>
        <p:txBody>
          <a:bodyPr/>
          <a:lstStyle/>
          <a:p>
            <a:endParaRPr lang="tr-TR"/>
          </a:p>
        </p:txBody>
      </p:sp>
      <p:sp>
        <p:nvSpPr>
          <p:cNvPr id="17" name="TextBox 17"/>
          <p:cNvSpPr txBox="1"/>
          <p:nvPr/>
        </p:nvSpPr>
        <p:spPr>
          <a:xfrm>
            <a:off x="2734478" y="2356152"/>
            <a:ext cx="12971058" cy="789305"/>
          </a:xfrm>
          <a:prstGeom prst="rect">
            <a:avLst/>
          </a:prstGeom>
        </p:spPr>
        <p:txBody>
          <a:bodyPr lIns="0" tIns="0" rIns="0" bIns="0" rtlCol="0" anchor="t">
            <a:spAutoFit/>
          </a:bodyPr>
          <a:lstStyle/>
          <a:p>
            <a:pPr marL="0" lvl="0" indent="0" algn="ctr">
              <a:lnSpc>
                <a:spcPts val="5785"/>
              </a:lnSpc>
              <a:spcBef>
                <a:spcPct val="0"/>
              </a:spcBef>
            </a:pPr>
            <a:r>
              <a:rPr lang="en-US" sz="6500" i="1" u="none" strike="noStrike" spc="-195">
                <a:solidFill>
                  <a:srgbClr val="311581"/>
                </a:solidFill>
                <a:latin typeface="Libre Baskerville Italics"/>
                <a:ea typeface="Libre Baskerville Italics"/>
                <a:cs typeface="Libre Baskerville Italics"/>
                <a:sym typeface="Libre Baskerville Italics"/>
              </a:rPr>
              <a:t>3 Boyutlu Gösterim - FPS Kamera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222570" y="5932573"/>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065430" y="904919"/>
            <a:ext cx="2445141" cy="2445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a:off x="-959630" y="7678446"/>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328370" y="2650792"/>
            <a:ext cx="1916807" cy="191680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4" name="Freeform 14"/>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15" name="Freeform 15"/>
          <p:cNvSpPr/>
          <p:nvPr/>
        </p:nvSpPr>
        <p:spPr>
          <a:xfrm flipH="1">
            <a:off x="1405107" y="-788898"/>
            <a:ext cx="4517944" cy="2230735"/>
          </a:xfrm>
          <a:custGeom>
            <a:avLst/>
            <a:gdLst/>
            <a:ahLst/>
            <a:cxnLst/>
            <a:rect l="l" t="t" r="r" b="b"/>
            <a:pathLst>
              <a:path w="4517944" h="2230735">
                <a:moveTo>
                  <a:pt x="4517945" y="0"/>
                </a:moveTo>
                <a:lnTo>
                  <a:pt x="0" y="0"/>
                </a:lnTo>
                <a:lnTo>
                  <a:pt x="0" y="2230735"/>
                </a:lnTo>
                <a:lnTo>
                  <a:pt x="4517945" y="2230735"/>
                </a:lnTo>
                <a:lnTo>
                  <a:pt x="4517945" y="0"/>
                </a:lnTo>
                <a:close/>
              </a:path>
            </a:pathLst>
          </a:custGeom>
          <a:blipFill>
            <a:blip r:embed="rId2">
              <a:alphaModFix amt="31999"/>
            </a:blip>
            <a:stretch>
              <a:fillRect/>
            </a:stretch>
          </a:blipFill>
        </p:spPr>
        <p:txBody>
          <a:bodyPr/>
          <a:lstStyle/>
          <a:p>
            <a:endParaRPr lang="tr-TR"/>
          </a:p>
        </p:txBody>
      </p:sp>
      <p:sp>
        <p:nvSpPr>
          <p:cNvPr id="16" name="Freeform 16"/>
          <p:cNvSpPr/>
          <p:nvPr/>
        </p:nvSpPr>
        <p:spPr>
          <a:xfrm>
            <a:off x="2279493" y="3350060"/>
            <a:ext cx="13991954" cy="6331359"/>
          </a:xfrm>
          <a:custGeom>
            <a:avLst/>
            <a:gdLst/>
            <a:ahLst/>
            <a:cxnLst/>
            <a:rect l="l" t="t" r="r" b="b"/>
            <a:pathLst>
              <a:path w="13991954" h="6331359">
                <a:moveTo>
                  <a:pt x="0" y="0"/>
                </a:moveTo>
                <a:lnTo>
                  <a:pt x="13991954" y="0"/>
                </a:lnTo>
                <a:lnTo>
                  <a:pt x="13991954" y="6331359"/>
                </a:lnTo>
                <a:lnTo>
                  <a:pt x="0" y="6331359"/>
                </a:lnTo>
                <a:lnTo>
                  <a:pt x="0" y="0"/>
                </a:lnTo>
                <a:close/>
              </a:path>
            </a:pathLst>
          </a:custGeom>
          <a:blipFill>
            <a:blip r:embed="rId3"/>
            <a:stretch>
              <a:fillRect/>
            </a:stretch>
          </a:blipFill>
        </p:spPr>
        <p:txBody>
          <a:bodyPr/>
          <a:lstStyle/>
          <a:p>
            <a:endParaRPr lang="tr-TR"/>
          </a:p>
        </p:txBody>
      </p:sp>
      <p:sp>
        <p:nvSpPr>
          <p:cNvPr id="17" name="TextBox 17"/>
          <p:cNvSpPr txBox="1"/>
          <p:nvPr/>
        </p:nvSpPr>
        <p:spPr>
          <a:xfrm>
            <a:off x="1843585" y="1861487"/>
            <a:ext cx="14600829" cy="789305"/>
          </a:xfrm>
          <a:prstGeom prst="rect">
            <a:avLst/>
          </a:prstGeom>
        </p:spPr>
        <p:txBody>
          <a:bodyPr lIns="0" tIns="0" rIns="0" bIns="0" rtlCol="0" anchor="t">
            <a:spAutoFit/>
          </a:bodyPr>
          <a:lstStyle/>
          <a:p>
            <a:pPr marL="0" lvl="0" indent="0" algn="ctr">
              <a:lnSpc>
                <a:spcPts val="5785"/>
              </a:lnSpc>
              <a:spcBef>
                <a:spcPct val="0"/>
              </a:spcBef>
            </a:pPr>
            <a:r>
              <a:rPr lang="en-US" sz="6500" i="1" u="none" strike="noStrike" spc="-195">
                <a:solidFill>
                  <a:srgbClr val="311581"/>
                </a:solidFill>
                <a:latin typeface="Libre Baskerville Italics"/>
                <a:ea typeface="Libre Baskerville Italics"/>
                <a:cs typeface="Libre Baskerville Italics"/>
                <a:sym typeface="Libre Baskerville Italics"/>
              </a:rPr>
              <a:t>3 Boyutlu Gösterim - Drone Kamera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222570" y="5932573"/>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065430" y="904919"/>
            <a:ext cx="2445141" cy="2445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a:off x="-959630" y="7678446"/>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328370" y="2650792"/>
            <a:ext cx="1916807" cy="191680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4" name="Freeform 14"/>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15" name="Freeform 15"/>
          <p:cNvSpPr/>
          <p:nvPr/>
        </p:nvSpPr>
        <p:spPr>
          <a:xfrm flipH="1">
            <a:off x="1405107" y="-788898"/>
            <a:ext cx="4517944" cy="2230735"/>
          </a:xfrm>
          <a:custGeom>
            <a:avLst/>
            <a:gdLst/>
            <a:ahLst/>
            <a:cxnLst/>
            <a:rect l="l" t="t" r="r" b="b"/>
            <a:pathLst>
              <a:path w="4517944" h="2230735">
                <a:moveTo>
                  <a:pt x="4517945" y="0"/>
                </a:moveTo>
                <a:lnTo>
                  <a:pt x="0" y="0"/>
                </a:lnTo>
                <a:lnTo>
                  <a:pt x="0" y="2230735"/>
                </a:lnTo>
                <a:lnTo>
                  <a:pt x="4517945" y="2230735"/>
                </a:lnTo>
                <a:lnTo>
                  <a:pt x="4517945" y="0"/>
                </a:lnTo>
                <a:close/>
              </a:path>
            </a:pathLst>
          </a:custGeom>
          <a:blipFill>
            <a:blip r:embed="rId2">
              <a:alphaModFix amt="31999"/>
            </a:blip>
            <a:stretch>
              <a:fillRect/>
            </a:stretch>
          </a:blipFill>
        </p:spPr>
        <p:txBody>
          <a:bodyPr/>
          <a:lstStyle/>
          <a:p>
            <a:endParaRPr lang="tr-TR"/>
          </a:p>
        </p:txBody>
      </p:sp>
      <p:sp>
        <p:nvSpPr>
          <p:cNvPr id="16" name="Freeform 16"/>
          <p:cNvSpPr/>
          <p:nvPr/>
        </p:nvSpPr>
        <p:spPr>
          <a:xfrm>
            <a:off x="2601885" y="3109058"/>
            <a:ext cx="13084230" cy="4440461"/>
          </a:xfrm>
          <a:custGeom>
            <a:avLst/>
            <a:gdLst/>
            <a:ahLst/>
            <a:cxnLst/>
            <a:rect l="l" t="t" r="r" b="b"/>
            <a:pathLst>
              <a:path w="13084230" h="4440461">
                <a:moveTo>
                  <a:pt x="0" y="0"/>
                </a:moveTo>
                <a:lnTo>
                  <a:pt x="13084230" y="0"/>
                </a:lnTo>
                <a:lnTo>
                  <a:pt x="13084230" y="4440460"/>
                </a:lnTo>
                <a:lnTo>
                  <a:pt x="0" y="4440460"/>
                </a:lnTo>
                <a:lnTo>
                  <a:pt x="0" y="0"/>
                </a:lnTo>
                <a:close/>
              </a:path>
            </a:pathLst>
          </a:custGeom>
          <a:blipFill>
            <a:blip r:embed="rId3"/>
            <a:stretch>
              <a:fillRect/>
            </a:stretch>
          </a:blipFill>
        </p:spPr>
        <p:txBody>
          <a:bodyPr/>
          <a:lstStyle/>
          <a:p>
            <a:endParaRPr lang="tr-TR"/>
          </a:p>
        </p:txBody>
      </p:sp>
      <p:sp>
        <p:nvSpPr>
          <p:cNvPr id="17" name="TextBox 17"/>
          <p:cNvSpPr txBox="1"/>
          <p:nvPr/>
        </p:nvSpPr>
        <p:spPr>
          <a:xfrm>
            <a:off x="1555041" y="1832849"/>
            <a:ext cx="14600829" cy="789305"/>
          </a:xfrm>
          <a:prstGeom prst="rect">
            <a:avLst/>
          </a:prstGeom>
        </p:spPr>
        <p:txBody>
          <a:bodyPr lIns="0" tIns="0" rIns="0" bIns="0" rtlCol="0" anchor="t">
            <a:spAutoFit/>
          </a:bodyPr>
          <a:lstStyle/>
          <a:p>
            <a:pPr marL="0" lvl="0" indent="0" algn="ctr">
              <a:lnSpc>
                <a:spcPts val="5785"/>
              </a:lnSpc>
              <a:spcBef>
                <a:spcPct val="0"/>
              </a:spcBef>
            </a:pPr>
            <a:r>
              <a:rPr lang="en-US" sz="6500" i="1" u="none" strike="noStrike" spc="-195">
                <a:solidFill>
                  <a:srgbClr val="311581"/>
                </a:solidFill>
                <a:latin typeface="Libre Baskerville Italics"/>
                <a:ea typeface="Libre Baskerville Italics"/>
                <a:cs typeface="Libre Baskerville Italics"/>
                <a:sym typeface="Libre Baskerville Italics"/>
              </a:rPr>
              <a:t>Yarışma Gösterimi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222570" y="5932573"/>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065430" y="904919"/>
            <a:ext cx="2445141" cy="2445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a:off x="-959630" y="7678446"/>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328370" y="2650792"/>
            <a:ext cx="1916807" cy="191680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4" name="Freeform 14"/>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15" name="Freeform 15"/>
          <p:cNvSpPr/>
          <p:nvPr/>
        </p:nvSpPr>
        <p:spPr>
          <a:xfrm flipH="1">
            <a:off x="1405107" y="-788898"/>
            <a:ext cx="4517944" cy="2230735"/>
          </a:xfrm>
          <a:custGeom>
            <a:avLst/>
            <a:gdLst/>
            <a:ahLst/>
            <a:cxnLst/>
            <a:rect l="l" t="t" r="r" b="b"/>
            <a:pathLst>
              <a:path w="4517944" h="2230735">
                <a:moveTo>
                  <a:pt x="4517945" y="0"/>
                </a:moveTo>
                <a:lnTo>
                  <a:pt x="0" y="0"/>
                </a:lnTo>
                <a:lnTo>
                  <a:pt x="0" y="2230735"/>
                </a:lnTo>
                <a:lnTo>
                  <a:pt x="4517945" y="2230735"/>
                </a:lnTo>
                <a:lnTo>
                  <a:pt x="4517945" y="0"/>
                </a:lnTo>
                <a:close/>
              </a:path>
            </a:pathLst>
          </a:custGeom>
          <a:blipFill>
            <a:blip r:embed="rId2">
              <a:alphaModFix amt="31999"/>
            </a:blip>
            <a:stretch>
              <a:fillRect/>
            </a:stretch>
          </a:blipFill>
        </p:spPr>
        <p:txBody>
          <a:bodyPr/>
          <a:lstStyle/>
          <a:p>
            <a:endParaRPr lang="tr-TR"/>
          </a:p>
        </p:txBody>
      </p:sp>
      <p:sp>
        <p:nvSpPr>
          <p:cNvPr id="16" name="Freeform 16"/>
          <p:cNvSpPr/>
          <p:nvPr/>
        </p:nvSpPr>
        <p:spPr>
          <a:xfrm>
            <a:off x="4098812" y="2803169"/>
            <a:ext cx="10090376" cy="6792084"/>
          </a:xfrm>
          <a:custGeom>
            <a:avLst/>
            <a:gdLst/>
            <a:ahLst/>
            <a:cxnLst/>
            <a:rect l="l" t="t" r="r" b="b"/>
            <a:pathLst>
              <a:path w="10090376" h="6792084">
                <a:moveTo>
                  <a:pt x="0" y="0"/>
                </a:moveTo>
                <a:lnTo>
                  <a:pt x="10090376" y="0"/>
                </a:lnTo>
                <a:lnTo>
                  <a:pt x="10090376" y="6792084"/>
                </a:lnTo>
                <a:lnTo>
                  <a:pt x="0" y="6792084"/>
                </a:lnTo>
                <a:lnTo>
                  <a:pt x="0" y="0"/>
                </a:lnTo>
                <a:close/>
              </a:path>
            </a:pathLst>
          </a:custGeom>
          <a:blipFill>
            <a:blip r:embed="rId3"/>
            <a:stretch>
              <a:fillRect/>
            </a:stretch>
          </a:blipFill>
        </p:spPr>
        <p:txBody>
          <a:bodyPr/>
          <a:lstStyle/>
          <a:p>
            <a:endParaRPr lang="tr-TR"/>
          </a:p>
        </p:txBody>
      </p:sp>
      <p:sp>
        <p:nvSpPr>
          <p:cNvPr id="17" name="TextBox 17"/>
          <p:cNvSpPr txBox="1"/>
          <p:nvPr/>
        </p:nvSpPr>
        <p:spPr>
          <a:xfrm>
            <a:off x="1843585" y="1641862"/>
            <a:ext cx="14600829" cy="789305"/>
          </a:xfrm>
          <a:prstGeom prst="rect">
            <a:avLst/>
          </a:prstGeom>
        </p:spPr>
        <p:txBody>
          <a:bodyPr lIns="0" tIns="0" rIns="0" bIns="0" rtlCol="0" anchor="t">
            <a:spAutoFit/>
          </a:bodyPr>
          <a:lstStyle/>
          <a:p>
            <a:pPr marL="0" lvl="0" indent="0" algn="ctr">
              <a:lnSpc>
                <a:spcPts val="5785"/>
              </a:lnSpc>
              <a:spcBef>
                <a:spcPct val="0"/>
              </a:spcBef>
            </a:pPr>
            <a:r>
              <a:rPr lang="en-US" sz="6500" i="1" u="none" strike="noStrike" spc="-195">
                <a:solidFill>
                  <a:srgbClr val="311581"/>
                </a:solidFill>
                <a:latin typeface="Libre Baskerville Italics"/>
                <a:ea typeface="Libre Baskerville Italics"/>
                <a:cs typeface="Libre Baskerville Italics"/>
                <a:sym typeface="Libre Baskerville Italics"/>
              </a:rPr>
              <a:t>Yarışma Gösterimi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222570" y="5932573"/>
            <a:ext cx="2445141" cy="244514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17065430" y="904919"/>
            <a:ext cx="2445141" cy="2445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a:off x="-959630" y="7678446"/>
            <a:ext cx="1916807" cy="191680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17328370" y="2650792"/>
            <a:ext cx="1916807" cy="191680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4" name="Freeform 14"/>
          <p:cNvSpPr/>
          <p:nvPr/>
        </p:nvSpPr>
        <p:spPr>
          <a:xfrm flipV="1">
            <a:off x="12364948" y="8845163"/>
            <a:ext cx="4517944" cy="2230735"/>
          </a:xfrm>
          <a:custGeom>
            <a:avLst/>
            <a:gdLst/>
            <a:ahLst/>
            <a:cxnLst/>
            <a:rect l="l" t="t" r="r" b="b"/>
            <a:pathLst>
              <a:path w="4517944" h="2230735">
                <a:moveTo>
                  <a:pt x="0" y="2230735"/>
                </a:moveTo>
                <a:lnTo>
                  <a:pt x="4517945" y="2230735"/>
                </a:lnTo>
                <a:lnTo>
                  <a:pt x="4517945" y="0"/>
                </a:lnTo>
                <a:lnTo>
                  <a:pt x="0" y="0"/>
                </a:lnTo>
                <a:lnTo>
                  <a:pt x="0" y="2230735"/>
                </a:lnTo>
                <a:close/>
              </a:path>
            </a:pathLst>
          </a:custGeom>
          <a:blipFill>
            <a:blip r:embed="rId2">
              <a:alphaModFix amt="31999"/>
            </a:blip>
            <a:stretch>
              <a:fillRect/>
            </a:stretch>
          </a:blipFill>
        </p:spPr>
        <p:txBody>
          <a:bodyPr/>
          <a:lstStyle/>
          <a:p>
            <a:endParaRPr lang="tr-TR"/>
          </a:p>
        </p:txBody>
      </p:sp>
      <p:sp>
        <p:nvSpPr>
          <p:cNvPr id="15" name="Freeform 15"/>
          <p:cNvSpPr/>
          <p:nvPr/>
        </p:nvSpPr>
        <p:spPr>
          <a:xfrm flipH="1">
            <a:off x="1405107" y="-788898"/>
            <a:ext cx="4517944" cy="2230735"/>
          </a:xfrm>
          <a:custGeom>
            <a:avLst/>
            <a:gdLst/>
            <a:ahLst/>
            <a:cxnLst/>
            <a:rect l="l" t="t" r="r" b="b"/>
            <a:pathLst>
              <a:path w="4517944" h="2230735">
                <a:moveTo>
                  <a:pt x="4517945" y="0"/>
                </a:moveTo>
                <a:lnTo>
                  <a:pt x="0" y="0"/>
                </a:lnTo>
                <a:lnTo>
                  <a:pt x="0" y="2230735"/>
                </a:lnTo>
                <a:lnTo>
                  <a:pt x="4517945" y="2230735"/>
                </a:lnTo>
                <a:lnTo>
                  <a:pt x="4517945" y="0"/>
                </a:lnTo>
                <a:close/>
              </a:path>
            </a:pathLst>
          </a:custGeom>
          <a:blipFill>
            <a:blip r:embed="rId2">
              <a:alphaModFix amt="31999"/>
            </a:blip>
            <a:stretch>
              <a:fillRect/>
            </a:stretch>
          </a:blipFill>
        </p:spPr>
        <p:txBody>
          <a:bodyPr/>
          <a:lstStyle/>
          <a:p>
            <a:endParaRPr lang="tr-TR"/>
          </a:p>
        </p:txBody>
      </p:sp>
      <p:sp>
        <p:nvSpPr>
          <p:cNvPr id="16" name="TextBox 16"/>
          <p:cNvSpPr txBox="1"/>
          <p:nvPr/>
        </p:nvSpPr>
        <p:spPr>
          <a:xfrm>
            <a:off x="763767" y="2341844"/>
            <a:ext cx="11825615" cy="122237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Backend Katmanı</a:t>
            </a:r>
          </a:p>
        </p:txBody>
      </p:sp>
      <p:sp>
        <p:nvSpPr>
          <p:cNvPr id="17" name="TextBox 17"/>
          <p:cNvSpPr txBox="1"/>
          <p:nvPr/>
        </p:nvSpPr>
        <p:spPr>
          <a:xfrm>
            <a:off x="1568929" y="3945218"/>
            <a:ext cx="15413082" cy="3209925"/>
          </a:xfrm>
          <a:prstGeom prst="rect">
            <a:avLst/>
          </a:prstGeom>
        </p:spPr>
        <p:txBody>
          <a:bodyPr lIns="0" tIns="0" rIns="0" bIns="0" rtlCol="0" anchor="t">
            <a:spAutoFit/>
          </a:bodyPr>
          <a:lstStyle/>
          <a:p>
            <a:pPr marL="0" lvl="0" indent="0" algn="l">
              <a:lnSpc>
                <a:spcPts val="4200"/>
              </a:lnSpc>
              <a:spcBef>
                <a:spcPct val="0"/>
              </a:spcBef>
            </a:pPr>
            <a:r>
              <a:rPr lang="en-US" sz="3000" u="none" strike="noStrike">
                <a:solidFill>
                  <a:srgbClr val="000000"/>
                </a:solidFill>
                <a:latin typeface="Poppins"/>
                <a:ea typeface="Poppins"/>
                <a:cs typeface="Poppins"/>
                <a:sym typeface="Poppins"/>
              </a:rPr>
              <a:t>Bu projede backend, FastAPI framework'ü ve PyTorch kütüphanesi kullanılarak Python ile geliştirilmiş bir yapay zeka servis katmanıdır. Görevleri üç başlıkta özetlenebilir: eğitilmiş sinir ağı modellerini belleğe yüklemek ve yönetmek, simülasyon ortamının (GridEnvironment) durumunu tutmak ve her adımda aksiyon hesaplamak, sonuçları arayüze iletmek.</a:t>
            </a:r>
          </a:p>
          <a:p>
            <a:pPr marL="0" lvl="0" indent="0" algn="l">
              <a:lnSpc>
                <a:spcPts val="4200"/>
              </a:lnSpc>
              <a:spcBef>
                <a:spcPct val="0"/>
              </a:spcBef>
            </a:pPr>
            <a:endParaRPr lang="en-US" sz="3000" u="none" strike="noStrike">
              <a:solidFill>
                <a:srgbClr val="000000"/>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4" name="TextBox 4"/>
          <p:cNvSpPr txBox="1"/>
          <p:nvPr/>
        </p:nvSpPr>
        <p:spPr>
          <a:xfrm>
            <a:off x="771525" y="3129477"/>
            <a:ext cx="16744950" cy="5487035"/>
          </a:xfrm>
          <a:prstGeom prst="rect">
            <a:avLst/>
          </a:prstGeom>
        </p:spPr>
        <p:txBody>
          <a:bodyPr lIns="0" tIns="0" rIns="0" bIns="0" rtlCol="0" anchor="t">
            <a:spAutoFit/>
          </a:bodyPr>
          <a:lstStyle/>
          <a:p>
            <a:pPr marL="0" lvl="0" indent="0" algn="l">
              <a:lnSpc>
                <a:spcPts val="3640"/>
              </a:lnSpc>
              <a:spcBef>
                <a:spcPct val="0"/>
              </a:spcBef>
            </a:pPr>
            <a:r>
              <a:rPr lang="en-US" sz="2600">
                <a:solidFill>
                  <a:srgbClr val="000000"/>
                </a:solidFill>
                <a:latin typeface="Poppins"/>
                <a:ea typeface="Poppins"/>
                <a:cs typeface="Poppins"/>
                <a:sym typeface="Poppins"/>
              </a:rPr>
              <a:t>Ge</a:t>
            </a:r>
            <a:r>
              <a:rPr lang="en-US" sz="2600" u="none" strike="noStrike">
                <a:solidFill>
                  <a:srgbClr val="000000"/>
                </a:solidFill>
                <a:latin typeface="Poppins"/>
                <a:ea typeface="Poppins"/>
                <a:cs typeface="Poppins"/>
                <a:sym typeface="Poppins"/>
              </a:rPr>
              <a:t>leneksel web mimarisinde (HTTP) iletişim "sor-cevap" mantığıyla çalışır. Yani arayüzün sunucuya sürekli, saniyede defalarca "Ajan hareket etti mi? Yeni koordinat ne?" diye sorması gerekir. Saniyede onlarca karar alan otonom bir yapay zekâ sisteminde bu sürekli sorma döngüsü (polling), sistemi yorar, tıkanmalara yol açar ve asla gerçek zamanlı (real-time) bir akış sağlayamaz.</a:t>
            </a:r>
          </a:p>
          <a:p>
            <a:pPr marL="0" lvl="0" indent="0" algn="l">
              <a:lnSpc>
                <a:spcPts val="3640"/>
              </a:lnSpc>
              <a:spcBef>
                <a:spcPct val="0"/>
              </a:spcBef>
            </a:pPr>
            <a:endParaRPr lang="en-US" sz="2600" u="none" strike="noStrike">
              <a:solidFill>
                <a:srgbClr val="000000"/>
              </a:solidFill>
              <a:latin typeface="Poppins"/>
              <a:ea typeface="Poppins"/>
              <a:cs typeface="Poppins"/>
              <a:sym typeface="Poppins"/>
            </a:endParaRPr>
          </a:p>
          <a:p>
            <a:pPr marL="0" lvl="0" indent="0" algn="l">
              <a:lnSpc>
                <a:spcPts val="3640"/>
              </a:lnSpc>
              <a:spcBef>
                <a:spcPct val="0"/>
              </a:spcBef>
            </a:pPr>
            <a:r>
              <a:rPr lang="en-US" sz="2600" b="1" u="none" strike="noStrike">
                <a:solidFill>
                  <a:srgbClr val="000000"/>
                </a:solidFill>
                <a:latin typeface="Poppins Bold"/>
                <a:ea typeface="Poppins Bold"/>
                <a:cs typeface="Poppins Bold"/>
                <a:sym typeface="Poppins Bold"/>
              </a:rPr>
              <a:t>WebSocket</a:t>
            </a:r>
            <a:r>
              <a:rPr lang="en-US" sz="2600" u="none" strike="noStrike">
                <a:solidFill>
                  <a:srgbClr val="000000"/>
                </a:solidFill>
                <a:latin typeface="Poppins"/>
                <a:ea typeface="Poppins"/>
                <a:cs typeface="Poppins"/>
                <a:sym typeface="Poppins"/>
              </a:rPr>
              <a:t>, sunucu (yapay zekâ) ile arayüz arasında sürekli açık kalan, iki yönlü bir otoban kurar. Bu otoban sayesinde arayüzün sürekli soru sormasına gerek kalmaz. Yapay zekâ ajanı arka planda bir adım attığı veya bir engele çarptığı an, sunucu bu veriyi beklemeden doğrudan arayüze fırlatır (push). Kısacası simülasyonun kesintisiz, anında ve milisaniyelik gecikmelerle canlı olarak akabilmesinin tek yolu bu teknolojidir.</a:t>
            </a:r>
          </a:p>
          <a:p>
            <a:pPr marL="0" lvl="0" indent="0" algn="l">
              <a:lnSpc>
                <a:spcPts val="3640"/>
              </a:lnSpc>
              <a:spcBef>
                <a:spcPct val="0"/>
              </a:spcBef>
            </a:pPr>
            <a:endParaRPr lang="en-US" sz="2600" u="none" strike="noStrike">
              <a:solidFill>
                <a:srgbClr val="000000"/>
              </a:solidFill>
              <a:latin typeface="Poppins"/>
              <a:ea typeface="Poppins"/>
              <a:cs typeface="Poppins"/>
              <a:sym typeface="Poppins"/>
            </a:endParaRPr>
          </a:p>
          <a:p>
            <a:pPr marL="0" lvl="0" indent="0" algn="l">
              <a:lnSpc>
                <a:spcPts val="3640"/>
              </a:lnSpc>
              <a:spcBef>
                <a:spcPct val="0"/>
              </a:spcBef>
            </a:pPr>
            <a:endParaRPr lang="en-US" sz="2600" u="none" strike="noStrike">
              <a:solidFill>
                <a:srgbClr val="000000"/>
              </a:solidFill>
              <a:latin typeface="Poppins"/>
              <a:ea typeface="Poppins"/>
              <a:cs typeface="Poppins"/>
              <a:sym typeface="Poppins"/>
            </a:endParaRPr>
          </a:p>
        </p:txBody>
      </p:sp>
      <p:sp>
        <p:nvSpPr>
          <p:cNvPr id="5" name="TextBox 5"/>
          <p:cNvSpPr txBox="1"/>
          <p:nvPr/>
        </p:nvSpPr>
        <p:spPr>
          <a:xfrm>
            <a:off x="523661" y="1323975"/>
            <a:ext cx="11035956" cy="122237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Neden Websocket?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12662" y="1028700"/>
            <a:ext cx="6841270" cy="6225556"/>
          </a:xfrm>
          <a:custGeom>
            <a:avLst/>
            <a:gdLst/>
            <a:ahLst/>
            <a:cxnLst/>
            <a:rect l="l" t="t" r="r" b="b"/>
            <a:pathLst>
              <a:path w="6841270" h="6225556">
                <a:moveTo>
                  <a:pt x="0" y="0"/>
                </a:moveTo>
                <a:lnTo>
                  <a:pt x="6841271" y="0"/>
                </a:lnTo>
                <a:lnTo>
                  <a:pt x="6841271" y="6225556"/>
                </a:lnTo>
                <a:lnTo>
                  <a:pt x="0" y="6225556"/>
                </a:lnTo>
                <a:lnTo>
                  <a:pt x="0" y="0"/>
                </a:lnTo>
                <a:close/>
              </a:path>
            </a:pathLst>
          </a:custGeom>
          <a:blipFill>
            <a:blip r:embed="rId2"/>
            <a:stretch>
              <a:fillRect/>
            </a:stretch>
          </a:blipFill>
        </p:spPr>
        <p:txBody>
          <a:bodyPr/>
          <a:lstStyle/>
          <a:p>
            <a:endParaRPr lang="tr-TR"/>
          </a:p>
        </p:txBody>
      </p:sp>
      <p:sp>
        <p:nvSpPr>
          <p:cNvPr id="3" name="TextBox 3"/>
          <p:cNvSpPr txBox="1"/>
          <p:nvPr/>
        </p:nvSpPr>
        <p:spPr>
          <a:xfrm>
            <a:off x="1232979" y="7975434"/>
            <a:ext cx="16546532" cy="915035"/>
          </a:xfrm>
          <a:prstGeom prst="rect">
            <a:avLst/>
          </a:prstGeom>
        </p:spPr>
        <p:txBody>
          <a:bodyPr lIns="0" tIns="0" rIns="0" bIns="0" rtlCol="0" anchor="t">
            <a:spAutoFit/>
          </a:bodyPr>
          <a:lstStyle/>
          <a:p>
            <a:pPr marL="0" lvl="0" indent="0" algn="l">
              <a:lnSpc>
                <a:spcPts val="3640"/>
              </a:lnSpc>
              <a:spcBef>
                <a:spcPct val="0"/>
              </a:spcBef>
            </a:pPr>
            <a:r>
              <a:rPr lang="en-US" sz="2600" u="none" strike="noStrike">
                <a:solidFill>
                  <a:srgbClr val="000000"/>
                </a:solidFill>
                <a:latin typeface="Poppins"/>
                <a:ea typeface="Poppins"/>
                <a:cs typeface="Poppins"/>
                <a:sym typeface="Poppins"/>
              </a:rPr>
              <a:t>Kısacası WebSocket ile Çözüm: Bağlantı çift yönlü olduğu için hem tarayıcı hem de yapay zeka modeli istedikleri anda, birbirlerini beklemeden ve hattı meşgul etmeden veri gönderebilirler.</a:t>
            </a:r>
          </a:p>
        </p:txBody>
      </p:sp>
      <p:sp>
        <p:nvSpPr>
          <p:cNvPr id="4" name="Freeform 4"/>
          <p:cNvSpPr/>
          <p:nvPr/>
        </p:nvSpPr>
        <p:spPr>
          <a:xfrm flipV="1">
            <a:off x="12741356" y="8890468"/>
            <a:ext cx="4517944" cy="2230735"/>
          </a:xfrm>
          <a:custGeom>
            <a:avLst/>
            <a:gdLst/>
            <a:ahLst/>
            <a:cxnLst/>
            <a:rect l="l" t="t" r="r" b="b"/>
            <a:pathLst>
              <a:path w="4517944" h="2230735">
                <a:moveTo>
                  <a:pt x="0" y="2230735"/>
                </a:moveTo>
                <a:lnTo>
                  <a:pt x="4517944" y="2230735"/>
                </a:lnTo>
                <a:lnTo>
                  <a:pt x="4517944" y="0"/>
                </a:lnTo>
                <a:lnTo>
                  <a:pt x="0" y="0"/>
                </a:lnTo>
                <a:lnTo>
                  <a:pt x="0" y="2230735"/>
                </a:lnTo>
                <a:close/>
              </a:path>
            </a:pathLst>
          </a:custGeom>
          <a:blipFill>
            <a:blip r:embed="rId3">
              <a:alphaModFix amt="31999"/>
            </a:blip>
            <a:stretch>
              <a:fillRect/>
            </a:stretch>
          </a:blipFill>
        </p:spPr>
        <p:txBody>
          <a:bodyPr/>
          <a:lstStyle/>
          <a:p>
            <a:endParaRPr lang="tr-TR"/>
          </a:p>
        </p:txBody>
      </p:sp>
      <p:sp>
        <p:nvSpPr>
          <p:cNvPr id="5" name="Freeform 5"/>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3">
              <a:alphaModFix amt="31999"/>
            </a:blip>
            <a:stretch>
              <a:fillRect/>
            </a:stretch>
          </a:blipFill>
        </p:spPr>
        <p:txBody>
          <a:bodyPr/>
          <a:lstStyle/>
          <a:p>
            <a:endParaRPr lang="tr-TR"/>
          </a:p>
        </p:txBody>
      </p:sp>
      <p:sp>
        <p:nvSpPr>
          <p:cNvPr id="6" name="Freeform 6"/>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3">
              <a:alphaModFix amt="31999"/>
            </a:blip>
            <a:stretch>
              <a:fillRect/>
            </a:stretch>
          </a:blipFill>
        </p:spPr>
        <p:txBody>
          <a:bodyPr/>
          <a:lstStyle/>
          <a:p>
            <a:endParaRPr lang="tr-T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3226268" y="8980248"/>
            <a:ext cx="2613504" cy="261350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4" name="TextBox 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5" name="Group 5"/>
          <p:cNvGrpSpPr/>
          <p:nvPr/>
        </p:nvGrpSpPr>
        <p:grpSpPr>
          <a:xfrm>
            <a:off x="-964850" y="5395500"/>
            <a:ext cx="1929699" cy="192969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7" name="TextBox 7"/>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8" name="Group 8"/>
          <p:cNvGrpSpPr/>
          <p:nvPr/>
        </p:nvGrpSpPr>
        <p:grpSpPr>
          <a:xfrm rot="5400000">
            <a:off x="15083402" y="9531597"/>
            <a:ext cx="1512740" cy="151274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0" name="TextBox 10"/>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1" name="Group 11"/>
          <p:cNvGrpSpPr/>
          <p:nvPr/>
        </p:nvGrpSpPr>
        <p:grpSpPr>
          <a:xfrm rot="-10800000">
            <a:off x="-755403" y="4434621"/>
            <a:ext cx="1512740" cy="151274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3" name="TextBox 13"/>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4" name="Group 14"/>
          <p:cNvGrpSpPr/>
          <p:nvPr/>
        </p:nvGrpSpPr>
        <p:grpSpPr>
          <a:xfrm rot="-5400000">
            <a:off x="3177525" y="-559703"/>
            <a:ext cx="1434499" cy="143449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16" name="TextBox 1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7" name="Group 17"/>
          <p:cNvGrpSpPr/>
          <p:nvPr/>
        </p:nvGrpSpPr>
        <p:grpSpPr>
          <a:xfrm rot="5400000">
            <a:off x="1479841" y="-991660"/>
            <a:ext cx="2298412" cy="22984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9" name="TextBox 1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20" name="Freeform 20"/>
          <p:cNvSpPr/>
          <p:nvPr/>
        </p:nvSpPr>
        <p:spPr>
          <a:xfrm>
            <a:off x="13932043" y="-863166"/>
            <a:ext cx="4517944" cy="2230735"/>
          </a:xfrm>
          <a:custGeom>
            <a:avLst/>
            <a:gdLst/>
            <a:ahLst/>
            <a:cxnLst/>
            <a:rect l="l" t="t" r="r" b="b"/>
            <a:pathLst>
              <a:path w="4517944" h="2230735">
                <a:moveTo>
                  <a:pt x="0" y="0"/>
                </a:moveTo>
                <a:lnTo>
                  <a:pt x="4517945" y="0"/>
                </a:lnTo>
                <a:lnTo>
                  <a:pt x="4517945"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21" name="Freeform 21"/>
          <p:cNvSpPr/>
          <p:nvPr/>
        </p:nvSpPr>
        <p:spPr>
          <a:xfrm flipH="1" flipV="1">
            <a:off x="1244227" y="869747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22" name="TextBox 22"/>
          <p:cNvSpPr txBox="1"/>
          <p:nvPr/>
        </p:nvSpPr>
        <p:spPr>
          <a:xfrm>
            <a:off x="3778254" y="3301508"/>
            <a:ext cx="10597220" cy="4023692"/>
          </a:xfrm>
          <a:prstGeom prst="rect">
            <a:avLst/>
          </a:prstGeom>
        </p:spPr>
        <p:txBody>
          <a:bodyPr lIns="0" tIns="0" rIns="0" bIns="0" rtlCol="0" anchor="t">
            <a:spAutoFit/>
          </a:bodyPr>
          <a:lstStyle/>
          <a:p>
            <a:pPr marL="0" lvl="0" indent="0" algn="ctr">
              <a:lnSpc>
                <a:spcPts val="10320"/>
              </a:lnSpc>
              <a:spcBef>
                <a:spcPct val="0"/>
              </a:spcBef>
            </a:pPr>
            <a:r>
              <a:rPr lang="en-US" sz="11596" i="1" u="none" strike="noStrike" spc="-347">
                <a:solidFill>
                  <a:srgbClr val="311581"/>
                </a:solidFill>
                <a:latin typeface="Libre Baskerville Italics"/>
                <a:ea typeface="Libre Baskerville Italics"/>
                <a:cs typeface="Libre Baskerville Italics"/>
                <a:sym typeface="Libre Baskerville Italics"/>
              </a:rPr>
              <a:t>Model Anlatımları Ve Farkları</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3" name="TextBox 3"/>
          <p:cNvSpPr txBox="1"/>
          <p:nvPr/>
        </p:nvSpPr>
        <p:spPr>
          <a:xfrm>
            <a:off x="0" y="1050906"/>
            <a:ext cx="17803087" cy="122237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DQN  ile Eğittiğimiz  Model</a:t>
            </a:r>
          </a:p>
        </p:txBody>
      </p:sp>
      <p:sp>
        <p:nvSpPr>
          <p:cNvPr id="4" name="TextBox 4"/>
          <p:cNvSpPr txBox="1"/>
          <p:nvPr/>
        </p:nvSpPr>
        <p:spPr>
          <a:xfrm>
            <a:off x="1246170" y="2681561"/>
            <a:ext cx="12929309" cy="5708650"/>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000000"/>
                </a:solidFill>
                <a:latin typeface="Poppins"/>
                <a:ea typeface="Poppins"/>
                <a:cs typeface="Poppins"/>
                <a:sym typeface="Poppins"/>
              </a:rPr>
              <a:t>Değer tabanlı öğrenme paradigmasının bu projedeki temsilcisi olan DQN modeli, Double Dueling mimarisiyle geliştirilmiş ve ε-greedy keşif stratejisi uygulanmıştır. Eğitim sürecinde epsilon değeri 1.0'dan 0.01'e kademeli olarak düşürülmüş; model başlangıçta rastgele keşif yaparken zamanla öğrendiklerini sömürmeye başlamıştır. </a:t>
            </a:r>
          </a:p>
          <a:p>
            <a:pPr marL="0" lvl="0" indent="0" algn="l">
              <a:lnSpc>
                <a:spcPts val="3500"/>
              </a:lnSpc>
              <a:spcBef>
                <a:spcPct val="0"/>
              </a:spcBef>
            </a:pPr>
            <a:endParaRPr lang="en-US" sz="2500" u="none" strike="noStrike">
              <a:solidFill>
                <a:srgbClr val="000000"/>
              </a:solidFill>
              <a:latin typeface="Poppins"/>
              <a:ea typeface="Poppins"/>
              <a:cs typeface="Poppins"/>
              <a:sym typeface="Poppins"/>
            </a:endParaRPr>
          </a:p>
          <a:p>
            <a:pPr marL="0" lvl="0" indent="0" algn="l">
              <a:lnSpc>
                <a:spcPts val="3500"/>
              </a:lnSpc>
              <a:spcBef>
                <a:spcPct val="0"/>
              </a:spcBef>
            </a:pPr>
            <a:r>
              <a:rPr lang="en-US" sz="2500" u="none" strike="noStrike">
                <a:solidFill>
                  <a:srgbClr val="000000"/>
                </a:solidFill>
                <a:latin typeface="Poppins"/>
                <a:ea typeface="Poppins"/>
                <a:cs typeface="Poppins"/>
                <a:sym typeface="Poppins"/>
              </a:rPr>
              <a:t>Öğrenme katsayısı 0.001, indirim faktörü γ=0.99 olarak belirlenmiş; deneyimler 30.000 kapasiteli bir bellek tamponunda (replay buffer) saklanarak rastgele örnekleme yoluyla eğitim gerçekleştirilmiştir. Ödül şemasında hedefe ulaşma +100, engele çarpma −50, harita dışına çıkma −10 olarak tanımlanmış; hedefe yaklaşma +2.0, uzaklaşma −0.5 ve her adıma −0.1 temel ceza uygulanmıştır. Küçük haritalarda işlevsel sonuçlar üretebilmektedir; ancak harita boyutu arttıkça performansının belirgin biçimde gerilediği gözlemlenmiştir.</a:t>
            </a:r>
          </a:p>
        </p:txBody>
      </p:sp>
      <p:sp>
        <p:nvSpPr>
          <p:cNvPr id="5" name="TextBox 5"/>
          <p:cNvSpPr txBox="1"/>
          <p:nvPr/>
        </p:nvSpPr>
        <p:spPr>
          <a:xfrm>
            <a:off x="1246170" y="8875915"/>
            <a:ext cx="15538261" cy="1111884"/>
          </a:xfrm>
          <a:prstGeom prst="rect">
            <a:avLst/>
          </a:prstGeom>
        </p:spPr>
        <p:txBody>
          <a:bodyPr lIns="0" tIns="0" rIns="0" bIns="0" rtlCol="0" anchor="t">
            <a:spAutoFit/>
          </a:bodyPr>
          <a:lstStyle/>
          <a:p>
            <a:pPr marL="0" lvl="0" indent="0" algn="l">
              <a:lnSpc>
                <a:spcPts val="2240"/>
              </a:lnSpc>
              <a:spcBef>
                <a:spcPct val="0"/>
              </a:spcBef>
            </a:pPr>
            <a:r>
              <a:rPr lang="en-US" sz="1600" b="1" u="none" strike="noStrike">
                <a:solidFill>
                  <a:srgbClr val="000000"/>
                </a:solidFill>
                <a:latin typeface="Poppins Bold"/>
                <a:ea typeface="Poppins Bold"/>
                <a:cs typeface="Poppins Bold"/>
                <a:sym typeface="Poppins Bold"/>
              </a:rPr>
              <a:t>ε-greedy (epsilon-greedy)</a:t>
            </a:r>
          </a:p>
          <a:p>
            <a:pPr marL="0" lvl="0" indent="0" algn="l">
              <a:lnSpc>
                <a:spcPts val="2240"/>
              </a:lnSpc>
              <a:spcBef>
                <a:spcPct val="0"/>
              </a:spcBef>
            </a:pPr>
            <a:r>
              <a:rPr lang="en-US" sz="1600" u="none" strike="noStrike">
                <a:solidFill>
                  <a:srgbClr val="000000"/>
                </a:solidFill>
                <a:latin typeface="Poppins"/>
                <a:ea typeface="Poppins"/>
                <a:cs typeface="Poppins"/>
                <a:sym typeface="Poppins"/>
              </a:rPr>
              <a:t>Ajanın keşif ile sömürü arasındaki dengeyi yönetme stratejisidir. Epsilon olasılığıyla rastgele bir aksiyon seçilir (keşif), kalan olasılıkla ise o ana kadar öğrenilmiş en iyi aksiyon uygulanır (sömürü). Eğitim başında epsilon yüksektir — ajan çok keşfeder; zamanla düşer — ajan öğrendiklerini kullanmaya başlar.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3" name="TextBox 3"/>
          <p:cNvSpPr txBox="1"/>
          <p:nvPr/>
        </p:nvSpPr>
        <p:spPr>
          <a:xfrm>
            <a:off x="688806" y="1323975"/>
            <a:ext cx="14319357" cy="122237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PPO ile Eğittimiz Model</a:t>
            </a:r>
          </a:p>
        </p:txBody>
      </p:sp>
      <p:sp>
        <p:nvSpPr>
          <p:cNvPr id="4" name="TextBox 4"/>
          <p:cNvSpPr txBox="1"/>
          <p:nvPr/>
        </p:nvSpPr>
        <p:spPr>
          <a:xfrm>
            <a:off x="1028700" y="3555773"/>
            <a:ext cx="15792505" cy="4832350"/>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000000"/>
                </a:solidFill>
                <a:latin typeface="Poppins"/>
                <a:ea typeface="Poppins"/>
                <a:cs typeface="Poppins"/>
                <a:sym typeface="Poppins"/>
              </a:rPr>
              <a:t>Proximal Policy Optimization algoritmasıyla Stable-Baselines3 kütüphanesi üzerinden eğitilmiş olan bu model, 5 birimlik görüş yarıçapıyla çevresini geniş bir perspektiften değerlendirmektedir.</a:t>
            </a:r>
          </a:p>
          <a:p>
            <a:pPr marL="0" lvl="0" indent="0" algn="l">
              <a:lnSpc>
                <a:spcPts val="3500"/>
              </a:lnSpc>
              <a:spcBef>
                <a:spcPct val="0"/>
              </a:spcBef>
            </a:pPr>
            <a:endParaRPr lang="en-US" sz="2500" u="none" strike="noStrike">
              <a:solidFill>
                <a:srgbClr val="000000"/>
              </a:solidFill>
              <a:latin typeface="Poppins"/>
              <a:ea typeface="Poppins"/>
              <a:cs typeface="Poppins"/>
              <a:sym typeface="Poppins"/>
            </a:endParaRPr>
          </a:p>
          <a:p>
            <a:pPr marL="0" lvl="0" indent="0" algn="l">
              <a:lnSpc>
                <a:spcPts val="3500"/>
              </a:lnSpc>
              <a:spcBef>
                <a:spcPct val="0"/>
              </a:spcBef>
            </a:pPr>
            <a:r>
              <a:rPr lang="en-US" sz="2500" u="none" strike="noStrike">
                <a:solidFill>
                  <a:srgbClr val="000000"/>
                </a:solidFill>
                <a:latin typeface="Poppins"/>
                <a:ea typeface="Poppins"/>
                <a:cs typeface="Poppins"/>
                <a:sym typeface="Poppins"/>
              </a:rPr>
              <a:t>Öğrenme katsayısı 3×10⁻⁴, indirim faktörü γ=0.99, GAE lambda λ=0.95, entropi katsayısı 0.015 ve kırpma parametresi clip=0.2 olarak belirlenmiştir. </a:t>
            </a:r>
          </a:p>
          <a:p>
            <a:pPr marL="0" lvl="0" indent="0" algn="l">
              <a:lnSpc>
                <a:spcPts val="3500"/>
              </a:lnSpc>
              <a:spcBef>
                <a:spcPct val="0"/>
              </a:spcBef>
            </a:pPr>
            <a:endParaRPr lang="en-US" sz="2500" u="none" strike="noStrike">
              <a:solidFill>
                <a:srgbClr val="000000"/>
              </a:solidFill>
              <a:latin typeface="Poppins"/>
              <a:ea typeface="Poppins"/>
              <a:cs typeface="Poppins"/>
              <a:sym typeface="Poppins"/>
            </a:endParaRPr>
          </a:p>
          <a:p>
            <a:pPr marL="0" lvl="0" indent="0" algn="l">
              <a:lnSpc>
                <a:spcPts val="3500"/>
              </a:lnSpc>
              <a:spcBef>
                <a:spcPct val="0"/>
              </a:spcBef>
            </a:pPr>
            <a:r>
              <a:rPr lang="en-US" sz="2500" u="none" strike="noStrike">
                <a:solidFill>
                  <a:srgbClr val="000000"/>
                </a:solidFill>
                <a:latin typeface="Poppins"/>
                <a:ea typeface="Poppins"/>
                <a:cs typeface="Poppins"/>
                <a:sym typeface="Poppins"/>
              </a:rPr>
              <a:t>PPO modelleri farklı bir ödül şemasıyla eğitilmiştir: sabit adım cezası −0.05, yeni hücre keşfine +0.3, tekrar ziyarete kademeli ceza, dinamik engele tehlikeli yakınlıkta −0.2 ve çarpışmada −50 uygulanmıştır. Harita boyutu büyüdükçe başarı oranındaki düşüş son derece sınırlı kalmış, tüm senaryolarda tutarlı ve güvenilir bir performans sergilenmiştir.</a:t>
            </a:r>
          </a:p>
          <a:p>
            <a:pPr marL="0" lvl="0" indent="0" algn="l">
              <a:lnSpc>
                <a:spcPts val="3500"/>
              </a:lnSpc>
              <a:spcBef>
                <a:spcPct val="0"/>
              </a:spcBef>
            </a:pPr>
            <a:endParaRPr lang="en-US" sz="2500" u="none" strike="noStrike">
              <a:solidFill>
                <a:srgbClr val="000000"/>
              </a:solidFill>
              <a:latin typeface="Poppins"/>
              <a:ea typeface="Poppins"/>
              <a:cs typeface="Poppins"/>
              <a:sym typeface="Poppins"/>
            </a:endParaRPr>
          </a:p>
        </p:txBody>
      </p:sp>
      <p:sp>
        <p:nvSpPr>
          <p:cNvPr id="5" name="TextBox 5"/>
          <p:cNvSpPr txBox="1"/>
          <p:nvPr/>
        </p:nvSpPr>
        <p:spPr>
          <a:xfrm>
            <a:off x="488932" y="2812823"/>
            <a:ext cx="6436297" cy="542925"/>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Poppins Bold"/>
                <a:ea typeface="Poppins Bold"/>
                <a:cs typeface="Poppins Bold"/>
                <a:sym typeface="Poppins Bold"/>
              </a:rPr>
              <a:t>PPO_Hardcore_V2 Modeli :</a:t>
            </a:r>
          </a:p>
        </p:txBody>
      </p:sp>
      <p:sp>
        <p:nvSpPr>
          <p:cNvPr id="6" name="TextBox 6"/>
          <p:cNvSpPr txBox="1"/>
          <p:nvPr/>
        </p:nvSpPr>
        <p:spPr>
          <a:xfrm>
            <a:off x="1028700" y="8678545"/>
            <a:ext cx="16078029" cy="1111884"/>
          </a:xfrm>
          <a:prstGeom prst="rect">
            <a:avLst/>
          </a:prstGeom>
        </p:spPr>
        <p:txBody>
          <a:bodyPr lIns="0" tIns="0" rIns="0" bIns="0" rtlCol="0" anchor="t">
            <a:spAutoFit/>
          </a:bodyPr>
          <a:lstStyle/>
          <a:p>
            <a:pPr marL="0" lvl="0" indent="0" algn="l">
              <a:lnSpc>
                <a:spcPts val="2240"/>
              </a:lnSpc>
              <a:spcBef>
                <a:spcPct val="0"/>
              </a:spcBef>
            </a:pPr>
            <a:r>
              <a:rPr lang="en-US" sz="1600" b="1" u="none" strike="noStrike">
                <a:solidFill>
                  <a:srgbClr val="000000"/>
                </a:solidFill>
                <a:latin typeface="Poppins Bold"/>
                <a:ea typeface="Poppins Bold"/>
                <a:cs typeface="Poppins Bold"/>
                <a:sym typeface="Poppins Bold"/>
              </a:rPr>
              <a:t>λ (lambda)</a:t>
            </a:r>
          </a:p>
          <a:p>
            <a:pPr marL="0" lvl="0" indent="0" algn="l">
              <a:lnSpc>
                <a:spcPts val="2240"/>
              </a:lnSpc>
              <a:spcBef>
                <a:spcPct val="0"/>
              </a:spcBef>
            </a:pPr>
            <a:r>
              <a:rPr lang="en-US" sz="1600" u="none" strike="noStrike">
                <a:solidFill>
                  <a:srgbClr val="000000"/>
                </a:solidFill>
                <a:latin typeface="Poppins"/>
                <a:ea typeface="Poppins"/>
                <a:cs typeface="Poppins"/>
                <a:sym typeface="Poppins"/>
              </a:rPr>
              <a:t>GAE'de ne işe yarar? GAE (Generalized Advantage Estimation), ajanın bir aksiyonun ne kadar iyi olduğunu ölçmek için kullanılan avantaj hesaplama yöntemidir. Lambda bu hesaplamada kısa vadeli ve uzun vadeli ödüller arasındaki dengeyi ayarlar. λ=0'da ajan yalnızca bir sonraki adıma bakar (düşük varyans, yüksek önyargı); λ=1'de tüm gelecekteki ödülleri hesaba katar (düşük önyargı, yüksek varyans). λ=0.95 bu ikisi arasında dengeli bir noktadır.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4" name="TextBox 4"/>
          <p:cNvSpPr txBox="1"/>
          <p:nvPr/>
        </p:nvSpPr>
        <p:spPr>
          <a:xfrm>
            <a:off x="488932" y="2812823"/>
            <a:ext cx="6436297" cy="542925"/>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Poppins Bold"/>
                <a:ea typeface="Poppins Bold"/>
                <a:cs typeface="Poppins Bold"/>
                <a:sym typeface="Poppins Bold"/>
              </a:rPr>
              <a:t>PPO_Sweetpot_V4 Modeli :</a:t>
            </a:r>
          </a:p>
        </p:txBody>
      </p:sp>
      <p:sp>
        <p:nvSpPr>
          <p:cNvPr id="5" name="TextBox 5"/>
          <p:cNvSpPr txBox="1"/>
          <p:nvPr/>
        </p:nvSpPr>
        <p:spPr>
          <a:xfrm>
            <a:off x="1028700" y="3729853"/>
            <a:ext cx="16829040" cy="3956050"/>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000000"/>
                </a:solidFill>
                <a:latin typeface="Poppins"/>
                <a:ea typeface="Poppins"/>
                <a:cs typeface="Poppins"/>
                <a:sym typeface="Poppins"/>
              </a:rPr>
              <a:t>Aynı PPO algoritmasının kasıtlı olarak kısıtlanmış bir görüş yarıçapıyla (4 birim) ve daha düşük ve dinamik bir öğrenme katsayısıyla (5×10⁻⁵) ince ayar yapılmış versiyonudur. </a:t>
            </a:r>
          </a:p>
          <a:p>
            <a:pPr marL="0" lvl="0" indent="0" algn="l">
              <a:lnSpc>
                <a:spcPts val="3500"/>
              </a:lnSpc>
              <a:spcBef>
                <a:spcPct val="0"/>
              </a:spcBef>
            </a:pPr>
            <a:endParaRPr lang="en-US" sz="2500" u="none" strike="noStrike">
              <a:solidFill>
                <a:srgbClr val="000000"/>
              </a:solidFill>
              <a:latin typeface="Poppins"/>
              <a:ea typeface="Poppins"/>
              <a:cs typeface="Poppins"/>
              <a:sym typeface="Poppins"/>
            </a:endParaRPr>
          </a:p>
          <a:p>
            <a:pPr marL="0" lvl="0" indent="0" algn="l">
              <a:lnSpc>
                <a:spcPts val="3500"/>
              </a:lnSpc>
              <a:spcBef>
                <a:spcPct val="0"/>
              </a:spcBef>
            </a:pPr>
            <a:r>
              <a:rPr lang="en-US" sz="2500" u="none" strike="noStrike">
                <a:solidFill>
                  <a:srgbClr val="000000"/>
                </a:solidFill>
                <a:latin typeface="Poppins"/>
                <a:ea typeface="Poppins"/>
                <a:cs typeface="Poppins"/>
                <a:sym typeface="Poppins"/>
              </a:rPr>
              <a:t>Diğer tüm hiperparametreler PPO Hardcore ile aynı tutulmuştur: γ=0.99, λ=0.95, entropi=0.015, clip=0.2. Öğrenme katsayısının düşürülmesi politika güncellemelerini daha temkinli hale getirirken, görüş alanının daraltılması modeli yakın çevresini daha dikkatli analiz etmeye yönlendirmiştir. Bu tasarım tercihlerinin sonucu olarak daha önce hiç karşılaşmadığı harita düzenlerine de başarıyla uyum sağlamış ve 500 özdeş harita üzerinde gerçekleştirilen karşılaştırmalı testte %91.9 ortalama başarı oranıyla dört model arasında genel şampiyon olmuştur</a:t>
            </a:r>
          </a:p>
        </p:txBody>
      </p:sp>
      <p:sp>
        <p:nvSpPr>
          <p:cNvPr id="6" name="TextBox 6"/>
          <p:cNvSpPr txBox="1"/>
          <p:nvPr/>
        </p:nvSpPr>
        <p:spPr>
          <a:xfrm>
            <a:off x="688806" y="1323975"/>
            <a:ext cx="15186368" cy="122237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PPO ile Eğittimiz Model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5" name="TextBox 5"/>
          <p:cNvSpPr txBox="1"/>
          <p:nvPr/>
        </p:nvSpPr>
        <p:spPr>
          <a:xfrm>
            <a:off x="1287834" y="694363"/>
            <a:ext cx="14379407" cy="234632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PPO Modelleri Arasındaki Fark</a:t>
            </a:r>
          </a:p>
        </p:txBody>
      </p:sp>
      <p:pic>
        <p:nvPicPr>
          <p:cNvPr id="7" name="Resim 6">
            <a:extLst>
              <a:ext uri="{FF2B5EF4-FFF2-40B4-BE49-F238E27FC236}">
                <a16:creationId xmlns:a16="http://schemas.microsoft.com/office/drawing/2014/main" id="{76EBC61B-3BD3-0FE6-B282-5A343DB07336}"/>
              </a:ext>
            </a:extLst>
          </p:cNvPr>
          <p:cNvPicPr>
            <a:picLocks noChangeAspect="1"/>
          </p:cNvPicPr>
          <p:nvPr/>
        </p:nvPicPr>
        <p:blipFill>
          <a:blip r:embed="rId3"/>
          <a:stretch>
            <a:fillRect/>
          </a:stretch>
        </p:blipFill>
        <p:spPr>
          <a:xfrm>
            <a:off x="2743200" y="4076700"/>
            <a:ext cx="12360513" cy="38862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4" name="TextBox 4"/>
          <p:cNvSpPr txBox="1"/>
          <p:nvPr/>
        </p:nvSpPr>
        <p:spPr>
          <a:xfrm>
            <a:off x="794013" y="1809730"/>
            <a:ext cx="14401930" cy="122237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A2C  ile Eğittimiz  Model</a:t>
            </a:r>
          </a:p>
        </p:txBody>
      </p:sp>
      <p:sp>
        <p:nvSpPr>
          <p:cNvPr id="5" name="TextBox 5"/>
          <p:cNvSpPr txBox="1"/>
          <p:nvPr/>
        </p:nvSpPr>
        <p:spPr>
          <a:xfrm>
            <a:off x="794013" y="3833332"/>
            <a:ext cx="16465287" cy="3079750"/>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000000"/>
                </a:solidFill>
                <a:latin typeface="Poppins"/>
                <a:ea typeface="Poppins"/>
                <a:cs typeface="Poppins"/>
                <a:sym typeface="Poppins"/>
              </a:rPr>
              <a:t>A2C (Advantage Actor-Critic), tek bir sinir ağı üzerinde iki farklı görevi eş zamanlı yürüten bir aktör-eleştirmen mimarisine dayanmaktadır. Ağın aktör başlığı, ajanın hangi aksiyonu seçeceğini belirleyen politikayı üretirken; eleştirmen başlığı, mevcut durumun ne kadar değerli olduğunu tahmin etmektedir.</a:t>
            </a:r>
          </a:p>
          <a:p>
            <a:pPr marL="0" lvl="0" indent="0" algn="l">
              <a:lnSpc>
                <a:spcPts val="3500"/>
              </a:lnSpc>
              <a:spcBef>
                <a:spcPct val="0"/>
              </a:spcBef>
            </a:pPr>
            <a:endParaRPr lang="en-US" sz="2500" u="none" strike="noStrike">
              <a:solidFill>
                <a:srgbClr val="000000"/>
              </a:solidFill>
              <a:latin typeface="Poppins"/>
              <a:ea typeface="Poppins"/>
              <a:cs typeface="Poppins"/>
              <a:sym typeface="Poppins"/>
            </a:endParaRPr>
          </a:p>
          <a:p>
            <a:pPr marL="0" lvl="0" indent="0" algn="l">
              <a:lnSpc>
                <a:spcPts val="3500"/>
              </a:lnSpc>
              <a:spcBef>
                <a:spcPct val="0"/>
              </a:spcBef>
            </a:pPr>
            <a:r>
              <a:rPr lang="en-US" sz="2500" u="none" strike="noStrike">
                <a:solidFill>
                  <a:srgbClr val="000000"/>
                </a:solidFill>
                <a:latin typeface="Poppins"/>
                <a:ea typeface="Poppins"/>
                <a:cs typeface="Poppins"/>
                <a:sym typeface="Poppins"/>
              </a:rPr>
              <a:t>Eleştirmenin ürettiği değer tahmini, aktörün her adımda kendini ne yönde güncelleyeceğini belirleyen avantaj hesaplamasında kullanılmaktadır. Bu iki bileşenin birbirini karşılıklı olarak beslediği yapı, öğrenmenin hem hızlı hem de kararlı ilerlemesini mümkün kılmaktadır.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46015" y="1967864"/>
            <a:ext cx="21221915" cy="981711"/>
          </a:xfrm>
          <a:prstGeom prst="rect">
            <a:avLst/>
          </a:prstGeom>
        </p:spPr>
        <p:txBody>
          <a:bodyPr lIns="0" tIns="0" rIns="0" bIns="0" rtlCol="0" anchor="t">
            <a:spAutoFit/>
          </a:bodyPr>
          <a:lstStyle/>
          <a:p>
            <a:pPr marL="0" lvl="0" indent="0" algn="ctr">
              <a:lnSpc>
                <a:spcPts val="7120"/>
              </a:lnSpc>
              <a:spcBef>
                <a:spcPct val="0"/>
              </a:spcBef>
            </a:pPr>
            <a:r>
              <a:rPr lang="en-US" sz="8000" i="1" u="none" strike="noStrike" spc="-240">
                <a:solidFill>
                  <a:srgbClr val="311581"/>
                </a:solidFill>
                <a:latin typeface="Libre Baskerville Italics"/>
                <a:ea typeface="Libre Baskerville Italics"/>
                <a:cs typeface="Libre Baskerville Italics"/>
                <a:sym typeface="Libre Baskerville Italics"/>
              </a:rPr>
              <a:t>A2C  ile Eğittimiz  Model  - devam..</a:t>
            </a:r>
          </a:p>
        </p:txBody>
      </p:sp>
      <p:sp>
        <p:nvSpPr>
          <p:cNvPr id="3" name="TextBox 3"/>
          <p:cNvSpPr txBox="1"/>
          <p:nvPr/>
        </p:nvSpPr>
        <p:spPr>
          <a:xfrm>
            <a:off x="659452" y="3378200"/>
            <a:ext cx="17628548" cy="1765300"/>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000000"/>
                </a:solidFill>
                <a:latin typeface="Poppins"/>
                <a:ea typeface="Poppins"/>
                <a:cs typeface="Poppins"/>
                <a:sym typeface="Poppins"/>
              </a:rPr>
              <a:t>Modelin en belirgin özelliği, eğitim sürecinde 8 bağımsız ortamın eş zamanlı olarak çalıştırılmasıdır. Her ortam farklı bir harita ve farklı bir rastgele tohum ile başlatılmakta; bu sayede tek bir ortamdan elde edilemeyecek çeşitlilikte deneyim aynı anda toplanmaktadır. Toplanan deneyimler tek bir senkron güncellemeye tabi tutulmakta, böylece asenkron yöntemlerde ortaya çıkabilen bayat gradyan sorununun önüne geçilmektedir.</a:t>
            </a:r>
          </a:p>
        </p:txBody>
      </p:sp>
      <p:sp>
        <p:nvSpPr>
          <p:cNvPr id="4" name="TextBox 4"/>
          <p:cNvSpPr txBox="1"/>
          <p:nvPr/>
        </p:nvSpPr>
        <p:spPr>
          <a:xfrm>
            <a:off x="659452" y="5568498"/>
            <a:ext cx="17628548" cy="2641600"/>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000000"/>
                </a:solidFill>
                <a:latin typeface="Poppins"/>
                <a:ea typeface="Poppins"/>
                <a:cs typeface="Poppins"/>
                <a:sym typeface="Poppins"/>
              </a:rPr>
              <a:t>Öğrenme katsayısı 3×10⁻⁴, indirim faktörü γ=0.99 ve GAE lambda değeri λ=0.95 olarak belirlenmiştir. </a:t>
            </a:r>
          </a:p>
          <a:p>
            <a:pPr marL="0" lvl="0" indent="0" algn="l">
              <a:lnSpc>
                <a:spcPts val="3500"/>
              </a:lnSpc>
              <a:spcBef>
                <a:spcPct val="0"/>
              </a:spcBef>
            </a:pPr>
            <a:r>
              <a:rPr lang="en-US" sz="2500" u="none" strike="noStrike">
                <a:solidFill>
                  <a:srgbClr val="000000"/>
                </a:solidFill>
                <a:latin typeface="Poppins"/>
                <a:ea typeface="Poppins"/>
                <a:cs typeface="Poppins"/>
                <a:sym typeface="Poppins"/>
              </a:rPr>
              <a:t>Keşif davranışı, DQN'deki gibi epsilon ile değil; entropi katsayısı aracılığıyla yönetilmiştir. </a:t>
            </a:r>
          </a:p>
          <a:p>
            <a:pPr marL="0" lvl="0" indent="0" algn="l">
              <a:lnSpc>
                <a:spcPts val="3500"/>
              </a:lnSpc>
              <a:spcBef>
                <a:spcPct val="0"/>
              </a:spcBef>
            </a:pPr>
            <a:r>
              <a:rPr lang="en-US" sz="2500" u="none" strike="noStrike">
                <a:solidFill>
                  <a:srgbClr val="000000"/>
                </a:solidFill>
                <a:latin typeface="Poppins"/>
                <a:ea typeface="Poppins"/>
                <a:cs typeface="Poppins"/>
                <a:sym typeface="Poppins"/>
              </a:rPr>
              <a:t>Bu katsayı eğitimin başında 0.03 olarak ayarlanmış, politikanın erken kararlaşmasını önlemek amacıyla zamanla 0.01'e düşürülmüştür. </a:t>
            </a:r>
          </a:p>
          <a:p>
            <a:pPr marL="0" lvl="0" indent="0" algn="l">
              <a:lnSpc>
                <a:spcPts val="3500"/>
              </a:lnSpc>
              <a:spcBef>
                <a:spcPct val="0"/>
              </a:spcBef>
            </a:pPr>
            <a:r>
              <a:rPr lang="en-US" sz="2500" u="none" strike="noStrike">
                <a:solidFill>
                  <a:srgbClr val="000000"/>
                </a:solidFill>
                <a:latin typeface="Poppins"/>
                <a:ea typeface="Poppins"/>
                <a:cs typeface="Poppins"/>
                <a:sym typeface="Poppins"/>
              </a:rPr>
              <a:t>Ödül şemasında hedefe ulaşma +100, engele çarpma −50, harita dışına çıkma −10 olarak tanımlanmış; hedefe yaklaşma +2.0, uzaklaşma −0.5 ve her adıma −0.1 temel ceza uygulanmıştır.</a:t>
            </a:r>
          </a:p>
        </p:txBody>
      </p:sp>
      <p:sp>
        <p:nvSpPr>
          <p:cNvPr id="5" name="Freeform 5"/>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6" name="Freeform 6"/>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895579" y="1000468"/>
            <a:ext cx="4888696" cy="2413794"/>
          </a:xfrm>
          <a:custGeom>
            <a:avLst/>
            <a:gdLst/>
            <a:ahLst/>
            <a:cxnLst/>
            <a:rect l="l" t="t" r="r" b="b"/>
            <a:pathLst>
              <a:path w="4888696" h="2413794">
                <a:moveTo>
                  <a:pt x="4888696" y="0"/>
                </a:moveTo>
                <a:lnTo>
                  <a:pt x="0" y="0"/>
                </a:lnTo>
                <a:lnTo>
                  <a:pt x="0" y="2413794"/>
                </a:lnTo>
                <a:lnTo>
                  <a:pt x="4888696" y="2413794"/>
                </a:lnTo>
                <a:lnTo>
                  <a:pt x="4888696" y="0"/>
                </a:lnTo>
                <a:close/>
              </a:path>
            </a:pathLst>
          </a:custGeom>
          <a:blipFill>
            <a:blip r:embed="rId2">
              <a:alphaModFix amt="31999"/>
            </a:blip>
            <a:stretch>
              <a:fillRect/>
            </a:stretch>
          </a:blipFill>
        </p:spPr>
        <p:txBody>
          <a:bodyPr/>
          <a:lstStyle/>
          <a:p>
            <a:endParaRPr lang="tr-TR"/>
          </a:p>
        </p:txBody>
      </p:sp>
      <p:grpSp>
        <p:nvGrpSpPr>
          <p:cNvPr id="3" name="Group 3"/>
          <p:cNvGrpSpPr/>
          <p:nvPr/>
        </p:nvGrpSpPr>
        <p:grpSpPr>
          <a:xfrm>
            <a:off x="17454654" y="7811400"/>
            <a:ext cx="1666691" cy="166669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5" name="TextBox 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6" name="Group 6"/>
          <p:cNvGrpSpPr/>
          <p:nvPr/>
        </p:nvGrpSpPr>
        <p:grpSpPr>
          <a:xfrm rot="-10800000">
            <a:off x="-860637" y="812475"/>
            <a:ext cx="1666691" cy="166669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8" name="TextBox 8"/>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9" name="Group 9"/>
          <p:cNvGrpSpPr/>
          <p:nvPr/>
        </p:nvGrpSpPr>
        <p:grpSpPr>
          <a:xfrm rot="-10800000">
            <a:off x="17635555" y="6981484"/>
            <a:ext cx="1306561" cy="130656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1" name="TextBox 11"/>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2" name="Group 12"/>
          <p:cNvGrpSpPr/>
          <p:nvPr/>
        </p:nvGrpSpPr>
        <p:grpSpPr>
          <a:xfrm>
            <a:off x="-681408" y="2002521"/>
            <a:ext cx="1306561" cy="130656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4" name="TextBox 14"/>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5" name="TextBox 15"/>
          <p:cNvSpPr txBox="1"/>
          <p:nvPr/>
        </p:nvSpPr>
        <p:spPr>
          <a:xfrm>
            <a:off x="625154" y="1323975"/>
            <a:ext cx="14957218" cy="122237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SAC ile Eğittiğimiz Model</a:t>
            </a:r>
          </a:p>
        </p:txBody>
      </p:sp>
      <p:sp>
        <p:nvSpPr>
          <p:cNvPr id="16" name="TextBox 16"/>
          <p:cNvSpPr txBox="1"/>
          <p:nvPr/>
        </p:nvSpPr>
        <p:spPr>
          <a:xfrm>
            <a:off x="329726" y="2886413"/>
            <a:ext cx="17805874" cy="3119444"/>
          </a:xfrm>
          <a:prstGeom prst="rect">
            <a:avLst/>
          </a:prstGeom>
        </p:spPr>
        <p:txBody>
          <a:bodyPr wrap="square" lIns="0" tIns="0" rIns="0" bIns="0" rtlCol="0" anchor="t">
            <a:spAutoFit/>
          </a:bodyPr>
          <a:lstStyle/>
          <a:p>
            <a:pPr marL="0" lvl="0" indent="0" algn="l">
              <a:lnSpc>
                <a:spcPts val="3500"/>
              </a:lnSpc>
              <a:spcBef>
                <a:spcPct val="0"/>
              </a:spcBef>
            </a:pPr>
            <a:r>
              <a:rPr lang="en-US" sz="2500" dirty="0">
                <a:solidFill>
                  <a:srgbClr val="000000"/>
                </a:solidFill>
                <a:latin typeface="Poppins"/>
                <a:ea typeface="Poppins"/>
                <a:cs typeface="Poppins"/>
                <a:sym typeface="Poppins"/>
              </a:rPr>
              <a:t>SAC (S</a:t>
            </a:r>
            <a:r>
              <a:rPr lang="en-US" sz="2500" u="none" strike="noStrike" dirty="0">
                <a:solidFill>
                  <a:srgbClr val="000000"/>
                </a:solidFill>
                <a:latin typeface="Poppins"/>
                <a:ea typeface="Poppins"/>
                <a:cs typeface="Poppins"/>
                <a:sym typeface="Poppins"/>
              </a:rPr>
              <a:t>oft Actor-Critic), </a:t>
            </a:r>
            <a:r>
              <a:rPr lang="en-US" sz="2500" u="none" strike="noStrike" dirty="0" err="1">
                <a:solidFill>
                  <a:srgbClr val="000000"/>
                </a:solidFill>
                <a:latin typeface="Poppins"/>
                <a:ea typeface="Poppins"/>
                <a:cs typeface="Poppins"/>
                <a:sym typeface="Poppins"/>
              </a:rPr>
              <a:t>örneklem</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verimliliğini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maksimize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eden</a:t>
            </a:r>
            <a:r>
              <a:rPr lang="en-US" sz="2500" u="none" strike="noStrike" dirty="0">
                <a:solidFill>
                  <a:srgbClr val="000000"/>
                </a:solidFill>
                <a:latin typeface="Poppins"/>
                <a:ea typeface="Poppins"/>
                <a:cs typeface="Poppins"/>
                <a:sym typeface="Poppins"/>
              </a:rPr>
              <a:t> off-policy (</a:t>
            </a:r>
            <a:r>
              <a:rPr lang="en-US" sz="2500" u="none" strike="noStrike" dirty="0" err="1">
                <a:solidFill>
                  <a:srgbClr val="000000"/>
                </a:solidFill>
                <a:latin typeface="Poppins"/>
                <a:ea typeface="Poppins"/>
                <a:cs typeface="Poppins"/>
                <a:sym typeface="Poppins"/>
              </a:rPr>
              <a:t>politika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dışı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bir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yapıyla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entropi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düzenlemesini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bir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araya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getiren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gelişmiş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bir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aktör-eleştirmen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modelidir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Ajanın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yalnızca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beklenen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ödülü</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değil</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aynı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zamanda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politikasının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rastgeleliğini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entropisini</a:t>
            </a:r>
            <a:r>
              <a:rPr lang="en-US" sz="2500" u="none" strike="noStrike" dirty="0">
                <a:solidFill>
                  <a:srgbClr val="000000"/>
                </a:solidFill>
                <a:latin typeface="Poppins"/>
                <a:ea typeface="Poppins"/>
                <a:cs typeface="Poppins"/>
                <a:sym typeface="Poppins"/>
              </a:rPr>
              <a:t>) de </a:t>
            </a:r>
            <a:r>
              <a:rPr lang="en-US" sz="2500" u="none" strike="noStrike" dirty="0" err="1">
                <a:solidFill>
                  <a:srgbClr val="000000"/>
                </a:solidFill>
                <a:latin typeface="Poppins"/>
                <a:ea typeface="Poppins"/>
                <a:cs typeface="Poppins"/>
                <a:sym typeface="Poppins"/>
              </a:rPr>
              <a:t>eş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zamanlı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olarak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maksimize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etmesini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sağlayan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bu</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yapı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yerel</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minimumlara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saplanmayı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engeller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ve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daha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yaratıcı</a:t>
            </a:r>
            <a:r>
              <a:rPr lang="en-US" sz="2500" u="none" strike="noStrike" dirty="0">
                <a:solidFill>
                  <a:srgbClr val="000000"/>
                </a:solidFill>
                <a:latin typeface="Poppins"/>
                <a:ea typeface="Poppins"/>
                <a:cs typeface="Poppins"/>
                <a:sym typeface="Poppins"/>
              </a:rPr>
              <a:t>/</a:t>
            </a:r>
            <a:r>
              <a:rPr lang="en-US" sz="2500" u="none" strike="noStrike" dirty="0" err="1">
                <a:solidFill>
                  <a:srgbClr val="000000"/>
                </a:solidFill>
                <a:latin typeface="Poppins"/>
                <a:ea typeface="Poppins"/>
                <a:cs typeface="Poppins"/>
                <a:sym typeface="Poppins"/>
              </a:rPr>
              <a:t>esnek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kaçış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manevraları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bulunmasını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teşvik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eder</a:t>
            </a:r>
            <a:r>
              <a:rPr lang="en-US" sz="2500" u="none" strike="noStrike" dirty="0">
                <a:solidFill>
                  <a:srgbClr val="000000"/>
                </a:solidFill>
                <a:latin typeface="Poppins"/>
                <a:ea typeface="Poppins"/>
                <a:cs typeface="Poppins"/>
                <a:sym typeface="Poppins"/>
              </a:rPr>
              <a:t>. Stable-Baselines3 </a:t>
            </a:r>
            <a:r>
              <a:rPr lang="en-US" sz="2500" u="none" strike="noStrike" dirty="0" err="1">
                <a:solidFill>
                  <a:srgbClr val="000000"/>
                </a:solidFill>
                <a:latin typeface="Poppins"/>
                <a:ea typeface="Poppins"/>
                <a:cs typeface="Poppins"/>
                <a:sym typeface="Poppins"/>
              </a:rPr>
              <a:t>kütüphanesi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üzerinden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eğitilmiş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olan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bu</a:t>
            </a:r>
            <a:r>
              <a:rPr lang="en-US" sz="2500" u="none" strike="noStrike" dirty="0">
                <a:solidFill>
                  <a:srgbClr val="000000"/>
                </a:solidFill>
                <a:latin typeface="Poppins"/>
                <a:ea typeface="Poppins"/>
                <a:cs typeface="Poppins"/>
                <a:sym typeface="Poppins"/>
              </a:rPr>
              <a:t> model, PPO </a:t>
            </a:r>
            <a:r>
              <a:rPr lang="en-US" sz="2500" u="none" strike="noStrike" dirty="0" err="1">
                <a:solidFill>
                  <a:srgbClr val="000000"/>
                </a:solidFill>
                <a:latin typeface="Poppins"/>
                <a:ea typeface="Poppins"/>
                <a:cs typeface="Poppins"/>
                <a:sym typeface="Poppins"/>
              </a:rPr>
              <a:t>ve</a:t>
            </a:r>
            <a:r>
              <a:rPr lang="en-US" sz="2500" u="none" strike="noStrike" dirty="0">
                <a:solidFill>
                  <a:srgbClr val="000000"/>
                </a:solidFill>
                <a:latin typeface="Poppins"/>
                <a:ea typeface="Poppins"/>
                <a:cs typeface="Poppins"/>
                <a:sym typeface="Poppins"/>
              </a:rPr>
              <a:t> A2C'den </a:t>
            </a:r>
            <a:r>
              <a:rPr lang="en-US" sz="2500" u="none" strike="noStrike" dirty="0" err="1">
                <a:solidFill>
                  <a:srgbClr val="000000"/>
                </a:solidFill>
                <a:latin typeface="Poppins"/>
                <a:ea typeface="Poppins"/>
                <a:cs typeface="Poppins"/>
                <a:sym typeface="Poppins"/>
              </a:rPr>
              <a:t>farklı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olarak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ağdan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çıkan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eylemleri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başlangıçta</a:t>
            </a:r>
            <a:r>
              <a:rPr lang="en-US" sz="2500" u="none" strike="noStrike" dirty="0">
                <a:solidFill>
                  <a:srgbClr val="000000"/>
                </a:solidFill>
                <a:latin typeface="Poppins"/>
                <a:ea typeface="Poppins"/>
                <a:cs typeface="Poppins"/>
                <a:sym typeface="Poppins"/>
              </a:rPr>
              <a:t> [x, y] </a:t>
            </a:r>
            <a:r>
              <a:rPr lang="en-US" sz="2500" u="none" strike="noStrike" dirty="0" err="1">
                <a:solidFill>
                  <a:srgbClr val="000000"/>
                </a:solidFill>
                <a:latin typeface="Poppins"/>
                <a:ea typeface="Poppins"/>
                <a:cs typeface="Poppins"/>
                <a:sym typeface="Poppins"/>
              </a:rPr>
              <a:t>formatında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sürekli</a:t>
            </a:r>
            <a:r>
              <a:rPr lang="en-US" sz="2500" u="none" strike="noStrike" dirty="0">
                <a:solidFill>
                  <a:srgbClr val="000000"/>
                </a:solidFill>
                <a:latin typeface="Poppins"/>
                <a:ea typeface="Poppins"/>
                <a:cs typeface="Poppins"/>
                <a:sym typeface="Poppins"/>
              </a:rPr>
              <a:t> (continuous) </a:t>
            </a:r>
            <a:r>
              <a:rPr lang="en-US" sz="2500" u="none" strike="noStrike" dirty="0" err="1">
                <a:solidFill>
                  <a:srgbClr val="000000"/>
                </a:solidFill>
                <a:latin typeface="Poppins"/>
                <a:ea typeface="Poppins"/>
                <a:cs typeface="Poppins"/>
                <a:sym typeface="Poppins"/>
              </a:rPr>
              <a:t>uzayda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üretip</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ardından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çevre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sarmalayıcısında</a:t>
            </a:r>
            <a:r>
              <a:rPr lang="en-US" sz="2500" u="none" strike="noStrike" dirty="0">
                <a:solidFill>
                  <a:srgbClr val="000000"/>
                </a:solidFill>
                <a:latin typeface="Poppins"/>
                <a:ea typeface="Poppins"/>
                <a:cs typeface="Poppins"/>
                <a:sym typeface="Poppins"/>
              </a:rPr>
              <a:t> 5 </a:t>
            </a:r>
            <a:r>
              <a:rPr lang="en-US" sz="2500" u="none" strike="noStrike" dirty="0" err="1">
                <a:solidFill>
                  <a:srgbClr val="000000"/>
                </a:solidFill>
                <a:latin typeface="Poppins"/>
                <a:ea typeface="Poppins"/>
                <a:cs typeface="Poppins"/>
                <a:sym typeface="Poppins"/>
              </a:rPr>
              <a:t>ayrık</a:t>
            </a:r>
            <a:r>
              <a:rPr lang="en-US" sz="2500" u="none" strike="noStrike" dirty="0">
                <a:solidFill>
                  <a:srgbClr val="000000"/>
                </a:solidFill>
                <a:latin typeface="Poppins"/>
                <a:ea typeface="Poppins"/>
                <a:cs typeface="Poppins"/>
                <a:sym typeface="Poppins"/>
              </a:rPr>
              <a:t> (discrete) </a:t>
            </a:r>
            <a:r>
              <a:rPr lang="en-US" sz="2500" u="none" strike="noStrike" dirty="0" err="1">
                <a:solidFill>
                  <a:srgbClr val="000000"/>
                </a:solidFill>
                <a:latin typeface="Poppins"/>
                <a:ea typeface="Poppins"/>
                <a:cs typeface="Poppins"/>
                <a:sym typeface="Poppins"/>
              </a:rPr>
              <a:t>aksiyona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dönüştürerek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çalışmaktadır</a:t>
            </a:r>
            <a:r>
              <a:rPr lang="en-US" sz="2500" u="none" strike="noStrike" dirty="0">
                <a:solidFill>
                  <a:srgbClr val="000000"/>
                </a:solidFill>
                <a:latin typeface="Poppins"/>
                <a:ea typeface="Poppins"/>
                <a:cs typeface="Poppins"/>
                <a:sym typeface="Poppins"/>
              </a:rPr>
              <a:t>.</a:t>
            </a:r>
          </a:p>
        </p:txBody>
      </p:sp>
      <p:sp>
        <p:nvSpPr>
          <p:cNvPr id="17" name="TextBox 17"/>
          <p:cNvSpPr txBox="1"/>
          <p:nvPr/>
        </p:nvSpPr>
        <p:spPr>
          <a:xfrm>
            <a:off x="323566" y="6309063"/>
            <a:ext cx="17735834" cy="3568285"/>
          </a:xfrm>
          <a:prstGeom prst="rect">
            <a:avLst/>
          </a:prstGeom>
        </p:spPr>
        <p:txBody>
          <a:bodyPr wrap="square" lIns="0" tIns="0" rIns="0" bIns="0" rtlCol="0" anchor="t">
            <a:spAutoFit/>
          </a:bodyPr>
          <a:lstStyle/>
          <a:p>
            <a:pPr marL="0" lvl="0" indent="0" algn="l">
              <a:lnSpc>
                <a:spcPts val="3500"/>
              </a:lnSpc>
              <a:spcBef>
                <a:spcPct val="0"/>
              </a:spcBef>
            </a:pPr>
            <a:r>
              <a:rPr lang="en-US" sz="2500" dirty="0" err="1">
                <a:solidFill>
                  <a:srgbClr val="000000"/>
                </a:solidFill>
                <a:latin typeface="Poppins"/>
                <a:ea typeface="Poppins"/>
                <a:cs typeface="Poppins"/>
                <a:sym typeface="Poppins"/>
              </a:rPr>
              <a:t>Öğrenme</a:t>
            </a:r>
            <a:r>
              <a:rPr lang="en-US" sz="2500" dirty="0">
                <a:solidFill>
                  <a:srgbClr val="000000"/>
                </a:solidFill>
                <a:latin typeface="Poppins"/>
                <a:ea typeface="Poppins"/>
                <a:cs typeface="Poppins"/>
                <a:sym typeface="Poppins"/>
              </a:rPr>
              <a:t> </a:t>
            </a:r>
            <a:r>
              <a:rPr lang="en-US" sz="2500" dirty="0" err="1">
                <a:solidFill>
                  <a:srgbClr val="000000"/>
                </a:solidFill>
                <a:latin typeface="Poppins"/>
                <a:ea typeface="Poppins"/>
                <a:cs typeface="Poppins"/>
                <a:sym typeface="Poppins"/>
              </a:rPr>
              <a:t>ka</a:t>
            </a:r>
            <a:r>
              <a:rPr lang="en-US" sz="2500" u="none" strike="noStrike" dirty="0" err="1">
                <a:solidFill>
                  <a:srgbClr val="000000"/>
                </a:solidFill>
                <a:latin typeface="Poppins"/>
                <a:ea typeface="Poppins"/>
                <a:cs typeface="Poppins"/>
                <a:sym typeface="Poppins"/>
              </a:rPr>
              <a:t>tsayısı</a:t>
            </a:r>
            <a:r>
              <a:rPr lang="en-US" sz="2500" u="none" strike="noStrike" dirty="0">
                <a:solidFill>
                  <a:srgbClr val="000000"/>
                </a:solidFill>
                <a:latin typeface="Poppins"/>
                <a:ea typeface="Poppins"/>
                <a:cs typeface="Poppins"/>
                <a:sym typeface="Poppins"/>
              </a:rPr>
              <a:t> 3×10⁻⁴, </a:t>
            </a:r>
            <a:r>
              <a:rPr lang="en-US" sz="2500" u="none" strike="noStrike" dirty="0" err="1">
                <a:solidFill>
                  <a:srgbClr val="000000"/>
                </a:solidFill>
                <a:latin typeface="Poppins"/>
                <a:ea typeface="Poppins"/>
                <a:cs typeface="Poppins"/>
                <a:sym typeface="Poppins"/>
              </a:rPr>
              <a:t>indirim</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faktörü</a:t>
            </a:r>
            <a:r>
              <a:rPr lang="en-US" sz="2500" u="none" strike="noStrike" dirty="0">
                <a:solidFill>
                  <a:srgbClr val="000000"/>
                </a:solidFill>
                <a:latin typeface="Poppins"/>
                <a:ea typeface="Poppins"/>
                <a:cs typeface="Poppins"/>
                <a:sym typeface="Poppins"/>
              </a:rPr>
              <a:t> γ=0.99 </a:t>
            </a:r>
            <a:r>
              <a:rPr lang="en-US" sz="2500" u="none" strike="noStrike" dirty="0" err="1">
                <a:solidFill>
                  <a:srgbClr val="000000"/>
                </a:solidFill>
                <a:latin typeface="Poppins"/>
                <a:ea typeface="Poppins"/>
                <a:cs typeface="Poppins"/>
                <a:sym typeface="Poppins"/>
              </a:rPr>
              <a:t>ve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hedef</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ağların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aşırı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iyimser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tahminlerini</a:t>
            </a:r>
            <a:r>
              <a:rPr lang="en-US" sz="2500" u="none" strike="noStrike" dirty="0">
                <a:solidFill>
                  <a:srgbClr val="000000"/>
                </a:solidFill>
                <a:latin typeface="Poppins"/>
                <a:ea typeface="Poppins"/>
                <a:cs typeface="Poppins"/>
                <a:sym typeface="Poppins"/>
              </a:rPr>
              <a:t> (overestimation) </a:t>
            </a:r>
            <a:r>
              <a:rPr lang="en-US" sz="2500" u="none" strike="noStrike" dirty="0" err="1">
                <a:solidFill>
                  <a:srgbClr val="000000"/>
                </a:solidFill>
                <a:latin typeface="Poppins"/>
                <a:ea typeface="Poppins"/>
                <a:cs typeface="Poppins"/>
                <a:sym typeface="Poppins"/>
              </a:rPr>
              <a:t>törpülemek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amacıyla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yumuşak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güncelleme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katsayısı</a:t>
            </a:r>
            <a:r>
              <a:rPr lang="en-US" sz="2500" u="none" strike="noStrike" dirty="0">
                <a:solidFill>
                  <a:srgbClr val="000000"/>
                </a:solidFill>
                <a:latin typeface="Poppins"/>
                <a:ea typeface="Poppins"/>
                <a:cs typeface="Poppins"/>
                <a:sym typeface="Poppins"/>
              </a:rPr>
              <a:t> τ=0.005 </a:t>
            </a:r>
            <a:r>
              <a:rPr lang="en-US" sz="2500" u="none" strike="noStrike" dirty="0" err="1">
                <a:solidFill>
                  <a:srgbClr val="000000"/>
                </a:solidFill>
                <a:latin typeface="Poppins"/>
                <a:ea typeface="Poppins"/>
                <a:cs typeface="Poppins"/>
                <a:sym typeface="Poppins"/>
              </a:rPr>
              <a:t>olarak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belirlenmiştir</a:t>
            </a:r>
            <a:r>
              <a:rPr lang="en-US" sz="2500" u="none" strike="noStrike" dirty="0">
                <a:solidFill>
                  <a:srgbClr val="000000"/>
                </a:solidFill>
                <a:latin typeface="Poppins"/>
                <a:ea typeface="Poppins"/>
                <a:cs typeface="Poppins"/>
                <a:sym typeface="Poppins"/>
              </a:rPr>
              <a:t>. </a:t>
            </a:r>
          </a:p>
          <a:p>
            <a:pPr marL="0" lvl="0" indent="0" algn="l">
              <a:lnSpc>
                <a:spcPts val="3500"/>
              </a:lnSpc>
              <a:spcBef>
                <a:spcPct val="0"/>
              </a:spcBef>
            </a:pPr>
            <a:r>
              <a:rPr lang="en-US" sz="2500" u="none" strike="noStrike" dirty="0" err="1">
                <a:solidFill>
                  <a:srgbClr val="000000"/>
                </a:solidFill>
                <a:latin typeface="Poppins"/>
                <a:ea typeface="Poppins"/>
                <a:cs typeface="Poppins"/>
                <a:sym typeface="Poppins"/>
              </a:rPr>
              <a:t>Keşif</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davranışı</a:t>
            </a:r>
            <a:r>
              <a:rPr lang="en-US" sz="2500" u="none" strike="noStrike" dirty="0">
                <a:solidFill>
                  <a:srgbClr val="000000"/>
                </a:solidFill>
                <a:latin typeface="Poppins"/>
                <a:ea typeface="Poppins"/>
                <a:cs typeface="Poppins"/>
                <a:sym typeface="Poppins"/>
              </a:rPr>
              <a:t>; DQN, PPO </a:t>
            </a:r>
            <a:r>
              <a:rPr lang="en-US" sz="2500" u="none" strike="noStrike" dirty="0" err="1">
                <a:solidFill>
                  <a:srgbClr val="000000"/>
                </a:solidFill>
                <a:latin typeface="Poppins"/>
                <a:ea typeface="Poppins"/>
                <a:cs typeface="Poppins"/>
                <a:sym typeface="Poppins"/>
              </a:rPr>
              <a:t>veya</a:t>
            </a:r>
            <a:r>
              <a:rPr lang="en-US" sz="2500" u="none" strike="noStrike" dirty="0">
                <a:solidFill>
                  <a:srgbClr val="000000"/>
                </a:solidFill>
                <a:latin typeface="Poppins"/>
                <a:ea typeface="Poppins"/>
                <a:cs typeface="Poppins"/>
                <a:sym typeface="Poppins"/>
              </a:rPr>
              <a:t> A2C'deki </a:t>
            </a:r>
            <a:r>
              <a:rPr lang="en-US" sz="2500" u="none" strike="noStrike" dirty="0" err="1">
                <a:solidFill>
                  <a:srgbClr val="000000"/>
                </a:solidFill>
                <a:latin typeface="Poppins"/>
                <a:ea typeface="Poppins"/>
                <a:cs typeface="Poppins"/>
                <a:sym typeface="Poppins"/>
              </a:rPr>
              <a:t>gibi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dışarıdan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manuel</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ayarlanan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kademeli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bir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parametre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yerine</a:t>
            </a:r>
            <a:r>
              <a:rPr lang="en-US" sz="2500" u="none" strike="noStrike" dirty="0">
                <a:solidFill>
                  <a:srgbClr val="000000"/>
                </a:solidFill>
                <a:latin typeface="Poppins"/>
                <a:ea typeface="Poppins"/>
                <a:cs typeface="Poppins"/>
                <a:sym typeface="Poppins"/>
              </a:rPr>
              <a:t>, ideal </a:t>
            </a:r>
            <a:r>
              <a:rPr lang="en-US" sz="2500" u="none" strike="noStrike" dirty="0" err="1">
                <a:solidFill>
                  <a:srgbClr val="000000"/>
                </a:solidFill>
                <a:latin typeface="Poppins"/>
                <a:ea typeface="Poppins"/>
                <a:cs typeface="Poppins"/>
                <a:sym typeface="Poppins"/>
              </a:rPr>
              <a:t>keşif</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seviyesini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eğitim</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boyunca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optimumda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tutmak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için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algoritmanın</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kendi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kendine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ayarladığı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dinamik</a:t>
            </a:r>
            <a:r>
              <a:rPr lang="en-US" sz="2500" u="none" strike="noStrike" dirty="0">
                <a:solidFill>
                  <a:srgbClr val="000000"/>
                </a:solidFill>
                <a:latin typeface="Poppins"/>
                <a:ea typeface="Poppins"/>
                <a:cs typeface="Poppins"/>
                <a:sym typeface="Poppins"/>
              </a:rPr>
              <a:t> (auto) </a:t>
            </a:r>
            <a:r>
              <a:rPr lang="en-US" sz="2500" u="none" strike="noStrike" dirty="0" err="1">
                <a:solidFill>
                  <a:srgbClr val="000000"/>
                </a:solidFill>
                <a:latin typeface="Poppins"/>
                <a:ea typeface="Poppins"/>
                <a:cs typeface="Poppins"/>
                <a:sym typeface="Poppins"/>
              </a:rPr>
              <a:t>entropi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katsayısı</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ile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yönetilmiştir</a:t>
            </a:r>
            <a:r>
              <a:rPr lang="en-US" sz="2500" u="none" strike="noStrike" dirty="0">
                <a:solidFill>
                  <a:srgbClr val="000000"/>
                </a:solidFill>
                <a:latin typeface="Poppins"/>
                <a:ea typeface="Poppins"/>
                <a:cs typeface="Poppins"/>
                <a:sym typeface="Poppins"/>
              </a:rPr>
              <a:t>. </a:t>
            </a:r>
          </a:p>
          <a:p>
            <a:pPr marL="0" lvl="0" indent="0" algn="l">
              <a:lnSpc>
                <a:spcPts val="3500"/>
              </a:lnSpc>
              <a:spcBef>
                <a:spcPct val="0"/>
              </a:spcBef>
            </a:pPr>
            <a:r>
              <a:rPr lang="en-US" sz="2500" u="none" strike="noStrike" dirty="0" err="1">
                <a:solidFill>
                  <a:srgbClr val="000000"/>
                </a:solidFill>
                <a:latin typeface="Poppins"/>
                <a:ea typeface="Poppins"/>
                <a:cs typeface="Poppins"/>
                <a:sym typeface="Poppins"/>
              </a:rPr>
              <a:t>Deneyimler</a:t>
            </a:r>
            <a:r>
              <a:rPr lang="en-US" sz="2500" u="none" strike="noStrike" dirty="0">
                <a:solidFill>
                  <a:srgbClr val="000000"/>
                </a:solidFill>
                <a:latin typeface="Poppins"/>
                <a:ea typeface="Poppins"/>
                <a:cs typeface="Poppins"/>
                <a:sym typeface="Poppins"/>
              </a:rPr>
              <a:t> 100.000 </a:t>
            </a:r>
            <a:r>
              <a:rPr lang="en-US" sz="2500" u="none" strike="noStrike" dirty="0" err="1">
                <a:solidFill>
                  <a:srgbClr val="000000"/>
                </a:solidFill>
                <a:latin typeface="Poppins"/>
                <a:ea typeface="Poppins"/>
                <a:cs typeface="Poppins"/>
                <a:sym typeface="Poppins"/>
              </a:rPr>
              <a:t>kapasiteli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çok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geniş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bir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bellek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tamponunda</a:t>
            </a:r>
            <a:r>
              <a:rPr lang="en-US" sz="2500" u="none" strike="noStrike" dirty="0">
                <a:solidFill>
                  <a:srgbClr val="000000"/>
                </a:solidFill>
                <a:latin typeface="Poppins"/>
                <a:ea typeface="Poppins"/>
                <a:cs typeface="Poppins"/>
                <a:sym typeface="Poppins"/>
              </a:rPr>
              <a:t> (replay buffer) </a:t>
            </a:r>
            <a:r>
              <a:rPr lang="en-US" sz="2500" u="none" strike="noStrike" dirty="0" err="1">
                <a:solidFill>
                  <a:srgbClr val="000000"/>
                </a:solidFill>
                <a:latin typeface="Poppins"/>
                <a:ea typeface="Poppins"/>
                <a:cs typeface="Poppins"/>
                <a:sym typeface="Poppins"/>
              </a:rPr>
              <a:t>saklanmış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ve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eğitim</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süreci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boyunca</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geçmiş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deneyimlerden</a:t>
            </a:r>
            <a:r>
              <a:rPr lang="en-US" sz="2500" u="none" strike="noStrike" dirty="0">
                <a:solidFill>
                  <a:srgbClr val="000000"/>
                </a:solidFill>
                <a:latin typeface="Poppins"/>
                <a:ea typeface="Poppins"/>
                <a:cs typeface="Poppins"/>
                <a:sym typeface="Poppins"/>
              </a:rPr>
              <a:t> 256 </a:t>
            </a:r>
            <a:r>
              <a:rPr lang="en-US" sz="2500" u="none" strike="noStrike" dirty="0" err="1">
                <a:solidFill>
                  <a:srgbClr val="000000"/>
                </a:solidFill>
                <a:latin typeface="Poppins"/>
                <a:ea typeface="Poppins"/>
                <a:cs typeface="Poppins"/>
                <a:sym typeface="Poppins"/>
              </a:rPr>
              <a:t>boyutlu</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rastgele</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batch'ler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yığınlar</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çekilerek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ağ</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ağırlıkları</a:t>
            </a:r>
            <a:r>
              <a:rPr lang="en-US" sz="2500" u="none" strike="noStrike" dirty="0">
                <a:solidFill>
                  <a:srgbClr val="000000"/>
                </a:solidFill>
                <a:latin typeface="Poppins"/>
                <a:ea typeface="Poppins"/>
                <a:cs typeface="Poppins"/>
                <a:sym typeface="Poppins"/>
              </a:rPr>
              <a:t> off-policy </a:t>
            </a:r>
            <a:r>
              <a:rPr lang="en-US" sz="2500" u="none" strike="noStrike" dirty="0" err="1">
                <a:solidFill>
                  <a:srgbClr val="000000"/>
                </a:solidFill>
                <a:latin typeface="Poppins"/>
                <a:ea typeface="Poppins"/>
                <a:cs typeface="Poppins"/>
                <a:sym typeface="Poppins"/>
              </a:rPr>
              <a:t>olarak</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sürekli</a:t>
            </a:r>
            <a:r>
              <a:rPr lang="en-US" sz="2500" u="none" strike="noStrike" dirty="0">
                <a:solidFill>
                  <a:srgbClr val="000000"/>
                </a:solidFill>
                <a:latin typeface="Poppins"/>
                <a:ea typeface="Poppins"/>
                <a:cs typeface="Poppins"/>
                <a:sym typeface="Poppins"/>
              </a:rPr>
              <a:t> </a:t>
            </a:r>
            <a:r>
              <a:rPr lang="en-US" sz="2500" u="none" strike="noStrike" dirty="0" err="1">
                <a:solidFill>
                  <a:srgbClr val="000000"/>
                </a:solidFill>
                <a:latin typeface="Poppins"/>
                <a:ea typeface="Poppins"/>
                <a:cs typeface="Poppins"/>
                <a:sym typeface="Poppins"/>
              </a:rPr>
              <a:t>güncellenmiştir</a:t>
            </a:r>
            <a:r>
              <a:rPr lang="en-US" sz="2500" u="none" strike="noStrike" dirty="0">
                <a:solidFill>
                  <a:srgbClr val="000000"/>
                </a:solidFill>
                <a:latin typeface="Poppins"/>
                <a:ea typeface="Poppins"/>
                <a:cs typeface="Poppins"/>
                <a:sym typeface="Poppins"/>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895579" y="1000468"/>
            <a:ext cx="4888696" cy="2413794"/>
          </a:xfrm>
          <a:custGeom>
            <a:avLst/>
            <a:gdLst/>
            <a:ahLst/>
            <a:cxnLst/>
            <a:rect l="l" t="t" r="r" b="b"/>
            <a:pathLst>
              <a:path w="4888696" h="2413794">
                <a:moveTo>
                  <a:pt x="4888696" y="0"/>
                </a:moveTo>
                <a:lnTo>
                  <a:pt x="0" y="0"/>
                </a:lnTo>
                <a:lnTo>
                  <a:pt x="0" y="2413794"/>
                </a:lnTo>
                <a:lnTo>
                  <a:pt x="4888696" y="2413794"/>
                </a:lnTo>
                <a:lnTo>
                  <a:pt x="4888696"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5400000" flipV="1">
            <a:off x="-1496275" y="6872738"/>
            <a:ext cx="4888696" cy="2413794"/>
          </a:xfrm>
          <a:custGeom>
            <a:avLst/>
            <a:gdLst/>
            <a:ahLst/>
            <a:cxnLst/>
            <a:rect l="l" t="t" r="r" b="b"/>
            <a:pathLst>
              <a:path w="4888696" h="2413794">
                <a:moveTo>
                  <a:pt x="0" y="2413794"/>
                </a:moveTo>
                <a:lnTo>
                  <a:pt x="4888696" y="2413794"/>
                </a:lnTo>
                <a:lnTo>
                  <a:pt x="4888696" y="0"/>
                </a:lnTo>
                <a:lnTo>
                  <a:pt x="0" y="0"/>
                </a:lnTo>
                <a:lnTo>
                  <a:pt x="0" y="2413794"/>
                </a:lnTo>
                <a:close/>
              </a:path>
            </a:pathLst>
          </a:custGeom>
          <a:blipFill>
            <a:blip r:embed="rId2">
              <a:alphaModFix amt="31999"/>
            </a:blip>
            <a:stretch>
              <a:fillRect/>
            </a:stretch>
          </a:blipFill>
        </p:spPr>
        <p:txBody>
          <a:bodyPr/>
          <a:lstStyle/>
          <a:p>
            <a:endParaRPr lang="tr-TR"/>
          </a:p>
        </p:txBody>
      </p:sp>
      <p:grpSp>
        <p:nvGrpSpPr>
          <p:cNvPr id="4" name="Group 4"/>
          <p:cNvGrpSpPr/>
          <p:nvPr/>
        </p:nvGrpSpPr>
        <p:grpSpPr>
          <a:xfrm>
            <a:off x="17454654" y="7811400"/>
            <a:ext cx="1666691" cy="1666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6" name="TextBox 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7" name="Group 7"/>
          <p:cNvGrpSpPr/>
          <p:nvPr/>
        </p:nvGrpSpPr>
        <p:grpSpPr>
          <a:xfrm rot="-10800000">
            <a:off x="-860637" y="812475"/>
            <a:ext cx="1666691" cy="166669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9" name="TextBox 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0" name="Group 10"/>
          <p:cNvGrpSpPr/>
          <p:nvPr/>
        </p:nvGrpSpPr>
        <p:grpSpPr>
          <a:xfrm rot="-10800000">
            <a:off x="17635555" y="6981484"/>
            <a:ext cx="1306561" cy="13065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2" name="TextBox 12"/>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3" name="Group 13"/>
          <p:cNvGrpSpPr/>
          <p:nvPr/>
        </p:nvGrpSpPr>
        <p:grpSpPr>
          <a:xfrm>
            <a:off x="-681408" y="2002521"/>
            <a:ext cx="1306561" cy="130656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5" name="TextBox 1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6" name="TextBox 16"/>
          <p:cNvSpPr txBox="1"/>
          <p:nvPr/>
        </p:nvSpPr>
        <p:spPr>
          <a:xfrm>
            <a:off x="625154" y="1540265"/>
            <a:ext cx="15163649" cy="1219788"/>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SAC ile Eğittiğimiz Model</a:t>
            </a:r>
          </a:p>
        </p:txBody>
      </p:sp>
      <p:sp>
        <p:nvSpPr>
          <p:cNvPr id="17" name="TextBox 17"/>
          <p:cNvSpPr txBox="1"/>
          <p:nvPr/>
        </p:nvSpPr>
        <p:spPr>
          <a:xfrm>
            <a:off x="948073" y="3453997"/>
            <a:ext cx="16657757" cy="3079750"/>
          </a:xfrm>
          <a:prstGeom prst="rect">
            <a:avLst/>
          </a:prstGeom>
        </p:spPr>
        <p:txBody>
          <a:bodyPr lIns="0" tIns="0" rIns="0" bIns="0" rtlCol="0" anchor="t">
            <a:spAutoFit/>
          </a:bodyPr>
          <a:lstStyle/>
          <a:p>
            <a:pPr marL="0" lvl="0" indent="0" algn="l">
              <a:lnSpc>
                <a:spcPts val="3500"/>
              </a:lnSpc>
              <a:spcBef>
                <a:spcPct val="0"/>
              </a:spcBef>
            </a:pPr>
            <a:r>
              <a:rPr lang="en-US" sz="2500">
                <a:solidFill>
                  <a:srgbClr val="000000"/>
                </a:solidFill>
                <a:latin typeface="Poppins"/>
                <a:ea typeface="Poppins"/>
                <a:cs typeface="Poppins"/>
                <a:sym typeface="Poppins"/>
              </a:rPr>
              <a:t>M</a:t>
            </a:r>
            <a:r>
              <a:rPr lang="en-US" sz="2500" u="none" strike="noStrike">
                <a:solidFill>
                  <a:srgbClr val="000000"/>
                </a:solidFill>
                <a:latin typeface="Poppins"/>
                <a:ea typeface="Poppins"/>
                <a:cs typeface="Poppins"/>
                <a:sym typeface="Poppins"/>
              </a:rPr>
              <a:t>odelin eğitim sürecindeki en güçlü yönlerinden biri, 16 bağımsız ortamın (SubprocVecEnv) eş zamanlı olarak çalıştırılmasıdır. 7 birimlik geniş bir görüş yarıçapıyla çevresini analiz eden SAC modeli, PPO modelleriyle aynı gelişmiş ödül şemasını temel almıştır: </a:t>
            </a:r>
          </a:p>
          <a:p>
            <a:pPr marL="0" lvl="0" indent="0" algn="l">
              <a:lnSpc>
                <a:spcPts val="3500"/>
              </a:lnSpc>
              <a:spcBef>
                <a:spcPct val="0"/>
              </a:spcBef>
            </a:pPr>
            <a:r>
              <a:rPr lang="en-US" sz="2500" u="none" strike="noStrike">
                <a:solidFill>
                  <a:srgbClr val="000000"/>
                </a:solidFill>
                <a:latin typeface="Poppins"/>
                <a:ea typeface="Poppins"/>
                <a:cs typeface="Poppins"/>
                <a:sym typeface="Poppins"/>
              </a:rPr>
              <a:t>Sabit adım cezası −0.05, yeni hücre keşfine +0.3, dinamik engele tehlikeli yakınlıkta −0.2 ve çarpışmada −50 uygulanmıştır. </a:t>
            </a:r>
          </a:p>
          <a:p>
            <a:pPr marL="0" lvl="0" indent="0" algn="l">
              <a:lnSpc>
                <a:spcPts val="3500"/>
              </a:lnSpc>
              <a:spcBef>
                <a:spcPct val="0"/>
              </a:spcBef>
            </a:pPr>
            <a:r>
              <a:rPr lang="en-US" sz="2500" u="none" strike="noStrike">
                <a:solidFill>
                  <a:srgbClr val="000000"/>
                </a:solidFill>
                <a:latin typeface="Poppins"/>
                <a:ea typeface="Poppins"/>
                <a:cs typeface="Poppins"/>
                <a:sym typeface="Poppins"/>
              </a:rPr>
              <a:t>Çıkarım aşamasında (inference) kararlarını tamamen kendi "saf sinir ağı" ile veren bu model, hiçbir manuel kural tabanlı kalkan kullanmadan zorlu senaryolarda hayatta kalmayı öğrenmiştir.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0706" y="8870008"/>
            <a:ext cx="4517944" cy="2230735"/>
          </a:xfrm>
          <a:custGeom>
            <a:avLst/>
            <a:gdLst/>
            <a:ahLst/>
            <a:cxnLst/>
            <a:rect l="l" t="t" r="r" b="b"/>
            <a:pathLst>
              <a:path w="4517944" h="2230735">
                <a:moveTo>
                  <a:pt x="0" y="0"/>
                </a:moveTo>
                <a:lnTo>
                  <a:pt x="4517944" y="0"/>
                </a:lnTo>
                <a:lnTo>
                  <a:pt x="4517944" y="2230735"/>
                </a:lnTo>
                <a:lnTo>
                  <a:pt x="0" y="2230735"/>
                </a:lnTo>
                <a:lnTo>
                  <a:pt x="0"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10800000" flipH="1" flipV="1">
            <a:off x="14007032" y="-716280"/>
            <a:ext cx="4517944" cy="2230735"/>
          </a:xfrm>
          <a:custGeom>
            <a:avLst/>
            <a:gdLst/>
            <a:ahLst/>
            <a:cxnLst/>
            <a:rect l="l" t="t" r="r" b="b"/>
            <a:pathLst>
              <a:path w="4517944" h="2230735">
                <a:moveTo>
                  <a:pt x="4517944" y="2230735"/>
                </a:moveTo>
                <a:lnTo>
                  <a:pt x="0" y="2230735"/>
                </a:lnTo>
                <a:lnTo>
                  <a:pt x="0" y="0"/>
                </a:lnTo>
                <a:lnTo>
                  <a:pt x="4517944" y="0"/>
                </a:lnTo>
                <a:lnTo>
                  <a:pt x="4517944" y="2230735"/>
                </a:lnTo>
                <a:close/>
              </a:path>
            </a:pathLst>
          </a:custGeom>
          <a:blipFill>
            <a:blip r:embed="rId2">
              <a:alphaModFix amt="31999"/>
            </a:blip>
            <a:stretch>
              <a:fillRect/>
            </a:stretch>
          </a:blipFill>
        </p:spPr>
        <p:txBody>
          <a:bodyPr/>
          <a:lstStyle/>
          <a:p>
            <a:endParaRPr lang="tr-TR"/>
          </a:p>
        </p:txBody>
      </p:sp>
      <p:sp>
        <p:nvSpPr>
          <p:cNvPr id="4" name="Freeform 4"/>
          <p:cNvSpPr/>
          <p:nvPr/>
        </p:nvSpPr>
        <p:spPr>
          <a:xfrm>
            <a:off x="250789" y="3040687"/>
            <a:ext cx="17786422" cy="6043764"/>
          </a:xfrm>
          <a:custGeom>
            <a:avLst/>
            <a:gdLst/>
            <a:ahLst/>
            <a:cxnLst/>
            <a:rect l="l" t="t" r="r" b="b"/>
            <a:pathLst>
              <a:path w="17786422" h="6043764">
                <a:moveTo>
                  <a:pt x="0" y="0"/>
                </a:moveTo>
                <a:lnTo>
                  <a:pt x="17786422" y="0"/>
                </a:lnTo>
                <a:lnTo>
                  <a:pt x="17786422" y="6043763"/>
                </a:lnTo>
                <a:lnTo>
                  <a:pt x="0" y="6043763"/>
                </a:lnTo>
                <a:lnTo>
                  <a:pt x="0" y="0"/>
                </a:lnTo>
                <a:close/>
              </a:path>
            </a:pathLst>
          </a:custGeom>
          <a:blipFill>
            <a:blip r:embed="rId3"/>
            <a:stretch>
              <a:fillRect t="-5425" b="-5425"/>
            </a:stretch>
          </a:blipFill>
        </p:spPr>
        <p:txBody>
          <a:bodyPr/>
          <a:lstStyle/>
          <a:p>
            <a:endParaRPr lang="tr-TR"/>
          </a:p>
        </p:txBody>
      </p:sp>
      <p:sp>
        <p:nvSpPr>
          <p:cNvPr id="5" name="TextBox 5"/>
          <p:cNvSpPr txBox="1"/>
          <p:nvPr/>
        </p:nvSpPr>
        <p:spPr>
          <a:xfrm>
            <a:off x="2051252" y="694363"/>
            <a:ext cx="13220886" cy="2346324"/>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GENEL KARŞILAŞTIRILMA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895579" y="1000468"/>
            <a:ext cx="4888696" cy="2413794"/>
          </a:xfrm>
          <a:custGeom>
            <a:avLst/>
            <a:gdLst/>
            <a:ahLst/>
            <a:cxnLst/>
            <a:rect l="l" t="t" r="r" b="b"/>
            <a:pathLst>
              <a:path w="4888696" h="2413794">
                <a:moveTo>
                  <a:pt x="4888696" y="0"/>
                </a:moveTo>
                <a:lnTo>
                  <a:pt x="0" y="0"/>
                </a:lnTo>
                <a:lnTo>
                  <a:pt x="0" y="2413794"/>
                </a:lnTo>
                <a:lnTo>
                  <a:pt x="4888696" y="2413794"/>
                </a:lnTo>
                <a:lnTo>
                  <a:pt x="4888696"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5400000" flipV="1">
            <a:off x="-1496275" y="6872738"/>
            <a:ext cx="4888696" cy="2413794"/>
          </a:xfrm>
          <a:custGeom>
            <a:avLst/>
            <a:gdLst/>
            <a:ahLst/>
            <a:cxnLst/>
            <a:rect l="l" t="t" r="r" b="b"/>
            <a:pathLst>
              <a:path w="4888696" h="2413794">
                <a:moveTo>
                  <a:pt x="0" y="2413794"/>
                </a:moveTo>
                <a:lnTo>
                  <a:pt x="4888696" y="2413794"/>
                </a:lnTo>
                <a:lnTo>
                  <a:pt x="4888696" y="0"/>
                </a:lnTo>
                <a:lnTo>
                  <a:pt x="0" y="0"/>
                </a:lnTo>
                <a:lnTo>
                  <a:pt x="0" y="2413794"/>
                </a:lnTo>
                <a:close/>
              </a:path>
            </a:pathLst>
          </a:custGeom>
          <a:blipFill>
            <a:blip r:embed="rId2">
              <a:alphaModFix amt="31999"/>
            </a:blip>
            <a:stretch>
              <a:fillRect/>
            </a:stretch>
          </a:blipFill>
        </p:spPr>
        <p:txBody>
          <a:bodyPr/>
          <a:lstStyle/>
          <a:p>
            <a:endParaRPr lang="tr-TR"/>
          </a:p>
        </p:txBody>
      </p:sp>
      <p:grpSp>
        <p:nvGrpSpPr>
          <p:cNvPr id="4" name="Group 4"/>
          <p:cNvGrpSpPr/>
          <p:nvPr/>
        </p:nvGrpSpPr>
        <p:grpSpPr>
          <a:xfrm>
            <a:off x="17454654" y="7811400"/>
            <a:ext cx="1666691" cy="1666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6" name="TextBox 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7" name="Group 7"/>
          <p:cNvGrpSpPr/>
          <p:nvPr/>
        </p:nvGrpSpPr>
        <p:grpSpPr>
          <a:xfrm rot="-10800000">
            <a:off x="-860637" y="812475"/>
            <a:ext cx="1666691" cy="166669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9" name="TextBox 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0" name="Group 10"/>
          <p:cNvGrpSpPr/>
          <p:nvPr/>
        </p:nvGrpSpPr>
        <p:grpSpPr>
          <a:xfrm rot="-10800000">
            <a:off x="17635555" y="6981484"/>
            <a:ext cx="1306561" cy="13065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2" name="TextBox 12"/>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3" name="Group 13"/>
          <p:cNvGrpSpPr/>
          <p:nvPr/>
        </p:nvGrpSpPr>
        <p:grpSpPr>
          <a:xfrm>
            <a:off x="-681408" y="2002521"/>
            <a:ext cx="1306561" cy="130656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5" name="TextBox 1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6" name="TextBox 16"/>
          <p:cNvSpPr txBox="1"/>
          <p:nvPr/>
        </p:nvSpPr>
        <p:spPr>
          <a:xfrm>
            <a:off x="323566" y="602349"/>
            <a:ext cx="12521330" cy="1717686"/>
          </a:xfrm>
          <a:prstGeom prst="rect">
            <a:avLst/>
          </a:prstGeom>
        </p:spPr>
        <p:txBody>
          <a:bodyPr lIns="0" tIns="0" rIns="0" bIns="0" rtlCol="0" anchor="t">
            <a:spAutoFit/>
          </a:bodyPr>
          <a:lstStyle/>
          <a:p>
            <a:pPr marL="0" lvl="0" indent="0" algn="ctr">
              <a:lnSpc>
                <a:spcPts val="12448"/>
              </a:lnSpc>
              <a:spcBef>
                <a:spcPct val="0"/>
              </a:spcBef>
            </a:pPr>
            <a:endParaRPr/>
          </a:p>
        </p:txBody>
      </p:sp>
      <p:sp>
        <p:nvSpPr>
          <p:cNvPr id="17" name="TextBox 17"/>
          <p:cNvSpPr txBox="1"/>
          <p:nvPr/>
        </p:nvSpPr>
        <p:spPr>
          <a:xfrm>
            <a:off x="1188774" y="3976918"/>
            <a:ext cx="15092688" cy="4102717"/>
          </a:xfrm>
          <a:prstGeom prst="rect">
            <a:avLst/>
          </a:prstGeom>
        </p:spPr>
        <p:txBody>
          <a:bodyPr lIns="0" tIns="0" rIns="0" bIns="0" rtlCol="0" anchor="t">
            <a:spAutoFit/>
          </a:bodyPr>
          <a:lstStyle/>
          <a:p>
            <a:pPr algn="ctr">
              <a:lnSpc>
                <a:spcPts val="3291"/>
              </a:lnSpc>
              <a:spcBef>
                <a:spcPct val="0"/>
              </a:spcBef>
            </a:pPr>
            <a:r>
              <a:rPr lang="en-US" sz="2350">
                <a:solidFill>
                  <a:srgbClr val="000000"/>
                </a:solidFill>
                <a:latin typeface="Poppins"/>
                <a:ea typeface="Poppins"/>
                <a:cs typeface="Poppins"/>
                <a:sym typeface="Poppins"/>
              </a:rPr>
              <a:t>Projenin başında sistemi model, backend ve frontend olarak 3 ayrı repoya bölmüştük. Fakat her seferinde her reponun güncel halini çekip ayrı ayrı ayağa kaldırmak bizi epey yavaşlatmaya başladı. Biz de süreci hızlandırmak için tüm projeyi tek bir repo altında topladık ve bu sayede gerçekten ciddi bir hız kazandık.</a:t>
            </a:r>
          </a:p>
          <a:p>
            <a:pPr algn="ctr">
              <a:lnSpc>
                <a:spcPts val="3291"/>
              </a:lnSpc>
              <a:spcBef>
                <a:spcPct val="0"/>
              </a:spcBef>
            </a:pPr>
            <a:r>
              <a:rPr lang="en-US" sz="2350">
                <a:solidFill>
                  <a:srgbClr val="000000"/>
                </a:solidFill>
                <a:latin typeface="Poppins"/>
                <a:ea typeface="Poppins"/>
                <a:cs typeface="Poppins"/>
                <a:sym typeface="Poppins"/>
              </a:rPr>
              <a:t>Benzer bir değişikliği sunucu tarafında da yaptık. İlk başta backendi uzak sunucuya deploy edip haritaları da oradaki veri tabanında tutacaktık. Ancak projenin en kritik noktası olan Websocket (WS) gecikmelerinden çekindiğimiz için bu fikirden vazgeçtik. Harita verilerini lokalde hiç biriktirmeden, backendi doğrudan lokalde çalıştırdık. Böylece frontend, backend ve model arasındaki iletişimi gecikmesiz ve sorunsuz bir şekilde çözmüş olduk.</a:t>
            </a:r>
          </a:p>
          <a:p>
            <a:pPr algn="ctr">
              <a:lnSpc>
                <a:spcPts val="3291"/>
              </a:lnSpc>
              <a:spcBef>
                <a:spcPct val="0"/>
              </a:spcBef>
            </a:pPr>
            <a:endParaRPr lang="en-US" sz="2350">
              <a:solidFill>
                <a:srgbClr val="000000"/>
              </a:solidFill>
              <a:latin typeface="Poppins"/>
              <a:ea typeface="Poppins"/>
              <a:cs typeface="Poppins"/>
              <a:sym typeface="Poppins"/>
            </a:endParaRPr>
          </a:p>
        </p:txBody>
      </p:sp>
      <p:sp>
        <p:nvSpPr>
          <p:cNvPr id="18" name="TextBox 18"/>
          <p:cNvSpPr txBox="1"/>
          <p:nvPr/>
        </p:nvSpPr>
        <p:spPr>
          <a:xfrm>
            <a:off x="475966" y="1323975"/>
            <a:ext cx="16518304" cy="2341152"/>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Künyeden Finale Değişenler Ve Sebepleri</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895579" y="1000468"/>
            <a:ext cx="4888696" cy="2413794"/>
          </a:xfrm>
          <a:custGeom>
            <a:avLst/>
            <a:gdLst/>
            <a:ahLst/>
            <a:cxnLst/>
            <a:rect l="l" t="t" r="r" b="b"/>
            <a:pathLst>
              <a:path w="4888696" h="2413794">
                <a:moveTo>
                  <a:pt x="4888696" y="0"/>
                </a:moveTo>
                <a:lnTo>
                  <a:pt x="0" y="0"/>
                </a:lnTo>
                <a:lnTo>
                  <a:pt x="0" y="2413794"/>
                </a:lnTo>
                <a:lnTo>
                  <a:pt x="4888696" y="2413794"/>
                </a:lnTo>
                <a:lnTo>
                  <a:pt x="4888696"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5400000" flipV="1">
            <a:off x="-1496275" y="6872738"/>
            <a:ext cx="4888696" cy="2413794"/>
          </a:xfrm>
          <a:custGeom>
            <a:avLst/>
            <a:gdLst/>
            <a:ahLst/>
            <a:cxnLst/>
            <a:rect l="l" t="t" r="r" b="b"/>
            <a:pathLst>
              <a:path w="4888696" h="2413794">
                <a:moveTo>
                  <a:pt x="0" y="2413794"/>
                </a:moveTo>
                <a:lnTo>
                  <a:pt x="4888696" y="2413794"/>
                </a:lnTo>
                <a:lnTo>
                  <a:pt x="4888696" y="0"/>
                </a:lnTo>
                <a:lnTo>
                  <a:pt x="0" y="0"/>
                </a:lnTo>
                <a:lnTo>
                  <a:pt x="0" y="2413794"/>
                </a:lnTo>
                <a:close/>
              </a:path>
            </a:pathLst>
          </a:custGeom>
          <a:blipFill>
            <a:blip r:embed="rId2">
              <a:alphaModFix amt="31999"/>
            </a:blip>
            <a:stretch>
              <a:fillRect/>
            </a:stretch>
          </a:blipFill>
        </p:spPr>
        <p:txBody>
          <a:bodyPr/>
          <a:lstStyle/>
          <a:p>
            <a:endParaRPr lang="tr-TR"/>
          </a:p>
        </p:txBody>
      </p:sp>
      <p:grpSp>
        <p:nvGrpSpPr>
          <p:cNvPr id="4" name="Group 4"/>
          <p:cNvGrpSpPr/>
          <p:nvPr/>
        </p:nvGrpSpPr>
        <p:grpSpPr>
          <a:xfrm>
            <a:off x="17454654" y="7811400"/>
            <a:ext cx="1666691" cy="1666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6" name="TextBox 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7" name="Group 7"/>
          <p:cNvGrpSpPr/>
          <p:nvPr/>
        </p:nvGrpSpPr>
        <p:grpSpPr>
          <a:xfrm rot="-10800000">
            <a:off x="-860637" y="812475"/>
            <a:ext cx="1666691" cy="166669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9" name="TextBox 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0" name="Group 10"/>
          <p:cNvGrpSpPr/>
          <p:nvPr/>
        </p:nvGrpSpPr>
        <p:grpSpPr>
          <a:xfrm rot="-10800000">
            <a:off x="17635555" y="6981484"/>
            <a:ext cx="1306561" cy="13065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2" name="TextBox 12"/>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3" name="Group 13"/>
          <p:cNvGrpSpPr/>
          <p:nvPr/>
        </p:nvGrpSpPr>
        <p:grpSpPr>
          <a:xfrm>
            <a:off x="-681408" y="2002521"/>
            <a:ext cx="1306561" cy="130656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5" name="TextBox 1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6" name="TextBox 16"/>
          <p:cNvSpPr txBox="1"/>
          <p:nvPr/>
        </p:nvSpPr>
        <p:spPr>
          <a:xfrm>
            <a:off x="323566" y="602349"/>
            <a:ext cx="12521330" cy="1717686"/>
          </a:xfrm>
          <a:prstGeom prst="rect">
            <a:avLst/>
          </a:prstGeom>
        </p:spPr>
        <p:txBody>
          <a:bodyPr lIns="0" tIns="0" rIns="0" bIns="0" rtlCol="0" anchor="t">
            <a:spAutoFit/>
          </a:bodyPr>
          <a:lstStyle/>
          <a:p>
            <a:pPr marL="0" lvl="0" indent="0" algn="ctr">
              <a:lnSpc>
                <a:spcPts val="12448"/>
              </a:lnSpc>
              <a:spcBef>
                <a:spcPct val="0"/>
              </a:spcBef>
            </a:pPr>
            <a:endParaRPr/>
          </a:p>
        </p:txBody>
      </p:sp>
      <p:sp>
        <p:nvSpPr>
          <p:cNvPr id="17" name="TextBox 17"/>
          <p:cNvSpPr txBox="1"/>
          <p:nvPr/>
        </p:nvSpPr>
        <p:spPr>
          <a:xfrm>
            <a:off x="1188774" y="3976918"/>
            <a:ext cx="15092688" cy="2464417"/>
          </a:xfrm>
          <a:prstGeom prst="rect">
            <a:avLst/>
          </a:prstGeom>
        </p:spPr>
        <p:txBody>
          <a:bodyPr lIns="0" tIns="0" rIns="0" bIns="0" rtlCol="0" anchor="t">
            <a:spAutoFit/>
          </a:bodyPr>
          <a:lstStyle/>
          <a:p>
            <a:pPr algn="ctr">
              <a:lnSpc>
                <a:spcPts val="3291"/>
              </a:lnSpc>
              <a:spcBef>
                <a:spcPct val="0"/>
              </a:spcBef>
            </a:pPr>
            <a:r>
              <a:rPr lang="en-US" sz="2350">
                <a:solidFill>
                  <a:srgbClr val="000000"/>
                </a:solidFill>
                <a:latin typeface="Poppins"/>
                <a:ea typeface="Poppins"/>
                <a:cs typeface="Poppins"/>
                <a:sym typeface="Poppins"/>
              </a:rPr>
              <a:t>Model kısmında ise yola sadece tek bir model ve DQN algoritmasıyla çıkmıştık. Sonradan projenin yönünü biraz değiştirerek, eksik veya doğru veri setleriyle eğitilmiş farklı modellerin performansını kıyaslamak istedik. Bu denemeleri yapabilmek için de projedeki algoritma ve model sayısını artırarak daha kapsamlı bir yapıya geçtik.</a:t>
            </a:r>
          </a:p>
          <a:p>
            <a:pPr algn="ctr">
              <a:lnSpc>
                <a:spcPts val="3291"/>
              </a:lnSpc>
              <a:spcBef>
                <a:spcPct val="0"/>
              </a:spcBef>
            </a:pPr>
            <a:endParaRPr lang="en-US" sz="2350">
              <a:solidFill>
                <a:srgbClr val="000000"/>
              </a:solidFill>
              <a:latin typeface="Poppins"/>
              <a:ea typeface="Poppins"/>
              <a:cs typeface="Poppins"/>
              <a:sym typeface="Poppins"/>
            </a:endParaRPr>
          </a:p>
        </p:txBody>
      </p:sp>
      <p:sp>
        <p:nvSpPr>
          <p:cNvPr id="18" name="TextBox 18"/>
          <p:cNvSpPr txBox="1"/>
          <p:nvPr/>
        </p:nvSpPr>
        <p:spPr>
          <a:xfrm>
            <a:off x="3776588" y="6579253"/>
            <a:ext cx="10734824" cy="2298047"/>
          </a:xfrm>
          <a:prstGeom prst="rect">
            <a:avLst/>
          </a:prstGeom>
        </p:spPr>
        <p:txBody>
          <a:bodyPr lIns="0" tIns="0" rIns="0" bIns="0" rtlCol="0" anchor="t">
            <a:spAutoFit/>
          </a:bodyPr>
          <a:lstStyle/>
          <a:p>
            <a:pPr algn="ctr">
              <a:lnSpc>
                <a:spcPts val="3011"/>
              </a:lnSpc>
              <a:spcBef>
                <a:spcPct val="0"/>
              </a:spcBef>
            </a:pPr>
            <a:r>
              <a:rPr lang="en-US" sz="2150">
                <a:solidFill>
                  <a:srgbClr val="000000"/>
                </a:solidFill>
                <a:latin typeface="Poppins"/>
                <a:ea typeface="Poppins"/>
                <a:cs typeface="Poppins"/>
                <a:sym typeface="Poppins"/>
              </a:rPr>
              <a:t>Eski repository’ler : </a:t>
            </a:r>
          </a:p>
          <a:p>
            <a:pPr algn="ctr">
              <a:lnSpc>
                <a:spcPts val="3011"/>
              </a:lnSpc>
              <a:spcBef>
                <a:spcPct val="0"/>
              </a:spcBef>
            </a:pPr>
            <a:r>
              <a:rPr lang="en-US" sz="2150">
                <a:solidFill>
                  <a:srgbClr val="000000"/>
                </a:solidFill>
                <a:latin typeface="Poppins"/>
                <a:ea typeface="Poppins"/>
                <a:cs typeface="Poppins"/>
                <a:sym typeface="Poppins"/>
              </a:rPr>
              <a:t>Model : </a:t>
            </a:r>
            <a:r>
              <a:rPr lang="en-US" sz="2150" u="sng">
                <a:solidFill>
                  <a:srgbClr val="000000"/>
                </a:solidFill>
                <a:latin typeface="Poppins"/>
                <a:ea typeface="Poppins"/>
                <a:cs typeface="Poppins"/>
                <a:sym typeface="Poppins"/>
                <a:hlinkClick r:id="rId3" tooltip="https://github.com/mertaydin10/otonomModel"/>
              </a:rPr>
              <a:t>https://github.com/mertaydin10/otonomModel</a:t>
            </a:r>
          </a:p>
          <a:p>
            <a:pPr algn="ctr">
              <a:lnSpc>
                <a:spcPts val="3011"/>
              </a:lnSpc>
              <a:spcBef>
                <a:spcPct val="0"/>
              </a:spcBef>
            </a:pPr>
            <a:r>
              <a:rPr lang="en-US" sz="2150">
                <a:solidFill>
                  <a:srgbClr val="000000"/>
                </a:solidFill>
                <a:latin typeface="Poppins"/>
                <a:ea typeface="Poppins"/>
                <a:cs typeface="Poppins"/>
                <a:sym typeface="Poppins"/>
              </a:rPr>
              <a:t>Frontend : </a:t>
            </a:r>
            <a:r>
              <a:rPr lang="en-US" sz="2150" u="sng">
                <a:solidFill>
                  <a:srgbClr val="000000"/>
                </a:solidFill>
                <a:latin typeface="Poppins"/>
                <a:ea typeface="Poppins"/>
                <a:cs typeface="Poppins"/>
                <a:sym typeface="Poppins"/>
                <a:hlinkClick r:id="rId4" tooltip="https://github.com/mertaydin10/OtonomSurus"/>
              </a:rPr>
              <a:t>https://github.com/mertaydin10/OtonomSurus</a:t>
            </a:r>
          </a:p>
          <a:p>
            <a:pPr algn="ctr">
              <a:lnSpc>
                <a:spcPts val="3011"/>
              </a:lnSpc>
              <a:spcBef>
                <a:spcPct val="0"/>
              </a:spcBef>
            </a:pPr>
            <a:r>
              <a:rPr lang="en-US" sz="2150">
                <a:solidFill>
                  <a:srgbClr val="000000"/>
                </a:solidFill>
                <a:latin typeface="Poppins"/>
                <a:ea typeface="Poppins"/>
                <a:cs typeface="Poppins"/>
                <a:sym typeface="Poppins"/>
              </a:rPr>
              <a:t>Backend : </a:t>
            </a:r>
            <a:r>
              <a:rPr lang="en-US" sz="2150" u="sng">
                <a:solidFill>
                  <a:srgbClr val="000000"/>
                </a:solidFill>
                <a:latin typeface="Poppins"/>
                <a:ea typeface="Poppins"/>
                <a:cs typeface="Poppins"/>
                <a:sym typeface="Poppins"/>
                <a:hlinkClick r:id="rId5" tooltip="https://github.com/civelekemirhan/PointSense"/>
              </a:rPr>
              <a:t>https://github.com/civelekemirhan/PointSense</a:t>
            </a:r>
          </a:p>
          <a:p>
            <a:pPr algn="ctr">
              <a:lnSpc>
                <a:spcPts val="3011"/>
              </a:lnSpc>
              <a:spcBef>
                <a:spcPct val="0"/>
              </a:spcBef>
            </a:pPr>
            <a:endParaRPr lang="en-US" sz="2150" u="sng">
              <a:solidFill>
                <a:srgbClr val="000000"/>
              </a:solidFill>
              <a:latin typeface="Poppins"/>
              <a:ea typeface="Poppins"/>
              <a:cs typeface="Poppins"/>
              <a:sym typeface="Poppins"/>
              <a:hlinkClick r:id="rId5" tooltip="https://github.com/civelekemirhan/PointSense"/>
            </a:endParaRPr>
          </a:p>
          <a:p>
            <a:pPr algn="ctr">
              <a:lnSpc>
                <a:spcPts val="3011"/>
              </a:lnSpc>
              <a:spcBef>
                <a:spcPct val="0"/>
              </a:spcBef>
            </a:pPr>
            <a:r>
              <a:rPr lang="en-US" sz="2150">
                <a:solidFill>
                  <a:srgbClr val="000000"/>
                </a:solidFill>
                <a:latin typeface="Poppins"/>
                <a:ea typeface="Poppins"/>
                <a:cs typeface="Poppins"/>
                <a:sym typeface="Poppins"/>
              </a:rPr>
              <a:t>Yeni repository (Fullstack) : </a:t>
            </a:r>
            <a:r>
              <a:rPr lang="en-US" sz="2150" u="sng">
                <a:solidFill>
                  <a:srgbClr val="000000"/>
                </a:solidFill>
                <a:latin typeface="Poppins"/>
                <a:ea typeface="Poppins"/>
                <a:cs typeface="Poppins"/>
                <a:sym typeface="Poppins"/>
                <a:hlinkClick r:id="rId6" tooltip="https://github.com/civelekemirhan/AutoSimulation"/>
              </a:rPr>
              <a:t>https://github.com/civelekemirhan/AutoSimulation</a:t>
            </a:r>
          </a:p>
        </p:txBody>
      </p:sp>
      <p:sp>
        <p:nvSpPr>
          <p:cNvPr id="19" name="TextBox 19"/>
          <p:cNvSpPr txBox="1"/>
          <p:nvPr/>
        </p:nvSpPr>
        <p:spPr>
          <a:xfrm>
            <a:off x="475966" y="1323975"/>
            <a:ext cx="16518304" cy="2341152"/>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Künyeden Finale Değişenler Ve Sebepleri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14895579" y="1000468"/>
            <a:ext cx="4888696" cy="2413794"/>
          </a:xfrm>
          <a:custGeom>
            <a:avLst/>
            <a:gdLst/>
            <a:ahLst/>
            <a:cxnLst/>
            <a:rect l="l" t="t" r="r" b="b"/>
            <a:pathLst>
              <a:path w="4888696" h="2413794">
                <a:moveTo>
                  <a:pt x="4888696" y="0"/>
                </a:moveTo>
                <a:lnTo>
                  <a:pt x="0" y="0"/>
                </a:lnTo>
                <a:lnTo>
                  <a:pt x="0" y="2413794"/>
                </a:lnTo>
                <a:lnTo>
                  <a:pt x="4888696" y="2413794"/>
                </a:lnTo>
                <a:lnTo>
                  <a:pt x="4888696" y="0"/>
                </a:lnTo>
                <a:close/>
              </a:path>
            </a:pathLst>
          </a:custGeom>
          <a:blipFill>
            <a:blip r:embed="rId2">
              <a:alphaModFix amt="31999"/>
            </a:blip>
            <a:stretch>
              <a:fillRect/>
            </a:stretch>
          </a:blipFill>
        </p:spPr>
        <p:txBody>
          <a:bodyPr/>
          <a:lstStyle/>
          <a:p>
            <a:endParaRPr lang="tr-TR"/>
          </a:p>
        </p:txBody>
      </p:sp>
      <p:sp>
        <p:nvSpPr>
          <p:cNvPr id="3" name="Freeform 3"/>
          <p:cNvSpPr/>
          <p:nvPr/>
        </p:nvSpPr>
        <p:spPr>
          <a:xfrm rot="5400000" flipV="1">
            <a:off x="-1496275" y="6872738"/>
            <a:ext cx="4888696" cy="2413794"/>
          </a:xfrm>
          <a:custGeom>
            <a:avLst/>
            <a:gdLst/>
            <a:ahLst/>
            <a:cxnLst/>
            <a:rect l="l" t="t" r="r" b="b"/>
            <a:pathLst>
              <a:path w="4888696" h="2413794">
                <a:moveTo>
                  <a:pt x="0" y="2413794"/>
                </a:moveTo>
                <a:lnTo>
                  <a:pt x="4888696" y="2413794"/>
                </a:lnTo>
                <a:lnTo>
                  <a:pt x="4888696" y="0"/>
                </a:lnTo>
                <a:lnTo>
                  <a:pt x="0" y="0"/>
                </a:lnTo>
                <a:lnTo>
                  <a:pt x="0" y="2413794"/>
                </a:lnTo>
                <a:close/>
              </a:path>
            </a:pathLst>
          </a:custGeom>
          <a:blipFill>
            <a:blip r:embed="rId2">
              <a:alphaModFix amt="31999"/>
            </a:blip>
            <a:stretch>
              <a:fillRect/>
            </a:stretch>
          </a:blipFill>
        </p:spPr>
        <p:txBody>
          <a:bodyPr/>
          <a:lstStyle/>
          <a:p>
            <a:endParaRPr lang="tr-TR"/>
          </a:p>
        </p:txBody>
      </p:sp>
      <p:grpSp>
        <p:nvGrpSpPr>
          <p:cNvPr id="4" name="Group 4"/>
          <p:cNvGrpSpPr/>
          <p:nvPr/>
        </p:nvGrpSpPr>
        <p:grpSpPr>
          <a:xfrm>
            <a:off x="17454654" y="7811400"/>
            <a:ext cx="1666691" cy="1666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6" name="TextBox 6"/>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7" name="Group 7"/>
          <p:cNvGrpSpPr/>
          <p:nvPr/>
        </p:nvGrpSpPr>
        <p:grpSpPr>
          <a:xfrm rot="-10800000">
            <a:off x="-860637" y="812475"/>
            <a:ext cx="1666691" cy="166669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F147C">
                    <a:alpha val="32000"/>
                  </a:srgbClr>
                </a:gs>
                <a:gs pos="100000">
                  <a:srgbClr val="3B0095">
                    <a:alpha val="0"/>
                  </a:srgbClr>
                </a:gs>
              </a:gsLst>
              <a:lin ang="0"/>
            </a:gradFill>
          </p:spPr>
          <p:txBody>
            <a:bodyPr/>
            <a:lstStyle/>
            <a:p>
              <a:endParaRPr lang="tr-TR"/>
            </a:p>
          </p:txBody>
        </p:sp>
        <p:sp>
          <p:nvSpPr>
            <p:cNvPr id="9" name="TextBox 9"/>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0" name="Group 10"/>
          <p:cNvGrpSpPr/>
          <p:nvPr/>
        </p:nvGrpSpPr>
        <p:grpSpPr>
          <a:xfrm rot="-10800000">
            <a:off x="17635555" y="6981484"/>
            <a:ext cx="1306561" cy="13065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2" name="TextBox 12"/>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grpSp>
        <p:nvGrpSpPr>
          <p:cNvPr id="13" name="Group 13"/>
          <p:cNvGrpSpPr/>
          <p:nvPr/>
        </p:nvGrpSpPr>
        <p:grpSpPr>
          <a:xfrm>
            <a:off x="-681408" y="2002521"/>
            <a:ext cx="1306561" cy="130656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B45B2">
                    <a:alpha val="32000"/>
                  </a:srgbClr>
                </a:gs>
                <a:gs pos="100000">
                  <a:srgbClr val="2B45B2">
                    <a:alpha val="0"/>
                  </a:srgbClr>
                </a:gs>
              </a:gsLst>
              <a:lin ang="0"/>
            </a:gradFill>
          </p:spPr>
          <p:txBody>
            <a:bodyPr/>
            <a:lstStyle/>
            <a:p>
              <a:endParaRPr lang="tr-TR"/>
            </a:p>
          </p:txBody>
        </p:sp>
        <p:sp>
          <p:nvSpPr>
            <p:cNvPr id="15" name="TextBox 15"/>
            <p:cNvSpPr txBox="1"/>
            <p:nvPr/>
          </p:nvSpPr>
          <p:spPr>
            <a:xfrm>
              <a:off x="76200" y="47625"/>
              <a:ext cx="660400" cy="688975"/>
            </a:xfrm>
            <a:prstGeom prst="rect">
              <a:avLst/>
            </a:prstGeom>
          </p:spPr>
          <p:txBody>
            <a:bodyPr lIns="35267" tIns="35267" rIns="35267" bIns="35267" rtlCol="0" anchor="ctr"/>
            <a:lstStyle/>
            <a:p>
              <a:pPr algn="ctr">
                <a:lnSpc>
                  <a:spcPts val="1751"/>
                </a:lnSpc>
              </a:pPr>
              <a:endParaRPr/>
            </a:p>
          </p:txBody>
        </p:sp>
      </p:grpSp>
      <p:sp>
        <p:nvSpPr>
          <p:cNvPr id="16" name="TextBox 16"/>
          <p:cNvSpPr txBox="1"/>
          <p:nvPr/>
        </p:nvSpPr>
        <p:spPr>
          <a:xfrm>
            <a:off x="2883335" y="4553941"/>
            <a:ext cx="12521330" cy="1219788"/>
          </a:xfrm>
          <a:prstGeom prst="rect">
            <a:avLst/>
          </a:prstGeom>
        </p:spPr>
        <p:txBody>
          <a:bodyPr lIns="0" tIns="0" rIns="0" bIns="0" rtlCol="0" anchor="t">
            <a:spAutoFit/>
          </a:bodyPr>
          <a:lstStyle/>
          <a:p>
            <a:pPr marL="0" lvl="0" indent="0" algn="ctr">
              <a:lnSpc>
                <a:spcPts val="8899"/>
              </a:lnSpc>
              <a:spcBef>
                <a:spcPct val="0"/>
              </a:spcBef>
            </a:pPr>
            <a:r>
              <a:rPr lang="en-US" sz="9999" i="1" u="none" strike="noStrike" spc="-299">
                <a:solidFill>
                  <a:srgbClr val="311581"/>
                </a:solidFill>
                <a:latin typeface="Libre Baskerville Italics"/>
                <a:ea typeface="Libre Baskerville Italics"/>
                <a:cs typeface="Libre Baskerville Italics"/>
                <a:sym typeface="Libre Baskerville Italics"/>
              </a:rPr>
              <a:t>TEŞEKKÜRLER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3341</Words>
  <Application>Microsoft Office PowerPoint</Application>
  <PresentationFormat>Özel</PresentationFormat>
  <Paragraphs>185</Paragraphs>
  <Slides>41</Slides>
  <Notes>1</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41</vt:i4>
      </vt:variant>
    </vt:vector>
  </HeadingPairs>
  <TitlesOfParts>
    <vt:vector size="49" baseType="lpstr">
      <vt:lpstr>Poppins Italics</vt:lpstr>
      <vt:lpstr>Arial</vt:lpstr>
      <vt:lpstr>Libre Baskerville Italics</vt:lpstr>
      <vt:lpstr>Calibri</vt:lpstr>
      <vt:lpstr>Poppins</vt:lpstr>
      <vt:lpstr>Poppins Bold</vt:lpstr>
      <vt:lpstr>Aptos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Otonom</dc:title>
  <cp:lastModifiedBy>EMRE ÇALIŞKAN</cp:lastModifiedBy>
  <cp:revision>2</cp:revision>
  <dcterms:created xsi:type="dcterms:W3CDTF">2006-08-16T00:00:00Z</dcterms:created>
  <dcterms:modified xsi:type="dcterms:W3CDTF">2026-06-03T01:36:18Z</dcterms:modified>
  <dc:identifier>DAHLaNO5Nfg</dc:identifier>
</cp:coreProperties>
</file>